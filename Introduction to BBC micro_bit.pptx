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5143500" cx="9144000"/>
  <p:notesSz cx="6858000" cy="9144000"/>
  <p:embeddedFontLst>
    <p:embeddedFont>
      <p:font typeface="Economica"/>
      <p:regular r:id="rId39"/>
      <p:bold r:id="rId40"/>
      <p:italic r:id="rId41"/>
      <p:boldItalic r:id="rId42"/>
    </p:embeddedFont>
    <p:embeddedFont>
      <p:font typeface="Amaranth"/>
      <p:regular r:id="rId43"/>
      <p:bold r:id="rId44"/>
      <p:italic r:id="rId45"/>
      <p:boldItalic r:id="rId46"/>
    </p:embeddedFont>
    <p:embeddedFont>
      <p:font typeface="Amatic SC"/>
      <p:regular r:id="rId47"/>
      <p:bold r:id="rId48"/>
    </p:embeddedFont>
    <p:embeddedFont>
      <p:font typeface="Average"/>
      <p:regular r:id="rId49"/>
    </p:embeddedFont>
    <p:embeddedFont>
      <p:font typeface="Oswald"/>
      <p:regular r:id="rId50"/>
      <p:bold r:id="rId51"/>
    </p:embeddedFont>
    <p:embeddedFont>
      <p:font typeface="Handlee"/>
      <p:regular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40" Type="http://schemas.openxmlformats.org/officeDocument/2006/relationships/font" Target="fonts/Economica-bold.fntdata"/><Relationship Id="rId42" Type="http://schemas.openxmlformats.org/officeDocument/2006/relationships/font" Target="fonts/Economica-boldItalic.fntdata"/><Relationship Id="rId41" Type="http://schemas.openxmlformats.org/officeDocument/2006/relationships/font" Target="fonts/Economica-italic.fntdata"/><Relationship Id="rId44" Type="http://schemas.openxmlformats.org/officeDocument/2006/relationships/font" Target="fonts/Amaranth-bold.fntdata"/><Relationship Id="rId43" Type="http://schemas.openxmlformats.org/officeDocument/2006/relationships/font" Target="fonts/Amaranth-regular.fntdata"/><Relationship Id="rId46" Type="http://schemas.openxmlformats.org/officeDocument/2006/relationships/font" Target="fonts/Amaranth-boldItalic.fntdata"/><Relationship Id="rId45" Type="http://schemas.openxmlformats.org/officeDocument/2006/relationships/font" Target="fonts/Amaranth-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AmaticSC-bold.fntdata"/><Relationship Id="rId47" Type="http://schemas.openxmlformats.org/officeDocument/2006/relationships/font" Target="fonts/AmaticSC-regular.fntdata"/><Relationship Id="rId49" Type="http://schemas.openxmlformats.org/officeDocument/2006/relationships/font" Target="fonts/Average-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font" Target="fonts/Economica-regular.fntdata"/><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Oswald-bold.fntdata"/><Relationship Id="rId50" Type="http://schemas.openxmlformats.org/officeDocument/2006/relationships/font" Target="fonts/Oswald-regular.fntdata"/><Relationship Id="rId52" Type="http://schemas.openxmlformats.org/officeDocument/2006/relationships/font" Target="fonts/Handlee-regular.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icrobit.co.uk/"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 name="Shape 55"/>
        <p:cNvGrpSpPr/>
        <p:nvPr/>
      </p:nvGrpSpPr>
      <p:grpSpPr>
        <a:xfrm>
          <a:off x="0" y="0"/>
          <a:ext cx="0" cy="0"/>
          <a:chOff x="0" y="0"/>
          <a:chExt cx="0" cy="0"/>
        </a:xfrm>
      </p:grpSpPr>
      <p:sp>
        <p:nvSpPr>
          <p:cNvPr id="56" name="Shape 56"/>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57" name="Shape 57"/>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1" name="Shape 61"/>
        <p:cNvGrpSpPr/>
        <p:nvPr/>
      </p:nvGrpSpPr>
      <p:grpSpPr>
        <a:xfrm>
          <a:off x="0" y="0"/>
          <a:ext cx="0" cy="0"/>
          <a:chOff x="0" y="0"/>
          <a:chExt cx="0" cy="0"/>
        </a:xfrm>
      </p:grpSpPr>
      <p:sp>
        <p:nvSpPr>
          <p:cNvPr id="62" name="Shape 6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3" name="Shape 63"/>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nSpc>
                <a:spcPct val="115000"/>
              </a:lnSpc>
              <a:spcBef>
                <a:spcPts val="0"/>
              </a:spcBef>
              <a:spcAft>
                <a:spcPts val="0"/>
              </a:spcAft>
              <a:buNone/>
            </a:pPr>
            <a:r>
              <a:rPr lang="en"/>
              <a:t>(“Hey guys cheer up! “)</a:t>
            </a:r>
            <a:endParaRPr/>
          </a:p>
          <a:p>
            <a:pPr indent="0" lvl="0" marL="0" rtl="0">
              <a:lnSpc>
                <a:spcPct val="115000"/>
              </a:lnSpc>
              <a:spcBef>
                <a:spcPts val="0"/>
              </a:spcBef>
              <a:spcAft>
                <a:spcPts val="0"/>
              </a:spcAft>
              <a:buNone/>
            </a:pPr>
            <a:r>
              <a:rPr lang="en"/>
              <a:t>Today you will be learning something so useful that you may change the world someday! Or simply inspired by me. What we will be doing…. is an introductory course on BBC microbit. </a:t>
            </a:r>
            <a:endParaRPr/>
          </a:p>
          <a:p>
            <a:pPr indent="0" lvl="0" marL="0" rtl="0">
              <a:lnSpc>
                <a:spcPct val="115000"/>
              </a:lnSpc>
              <a:spcBef>
                <a:spcPts val="0"/>
              </a:spcBef>
              <a:spcAft>
                <a:spcPts val="0"/>
              </a:spcAft>
              <a:buNone/>
            </a:pPr>
            <a:r>
              <a:t/>
            </a:r>
            <a:endParaRPr/>
          </a:p>
          <a:p>
            <a:pPr indent="0" lvl="0" marL="0" rtl="0">
              <a:lnSpc>
                <a:spcPct val="115000"/>
              </a:lnSpc>
              <a:spcBef>
                <a:spcPts val="0"/>
              </a:spcBef>
              <a:spcAft>
                <a:spcPts val="0"/>
              </a:spcAft>
              <a:buNone/>
            </a:pPr>
            <a:r>
              <a:rPr lang="en"/>
              <a:t>Before we start, let’s check you have everything we are going to need for this course. You should have a laptop which should be connected to the internet and the inventors’ kit.</a:t>
            </a:r>
            <a:endParaRPr/>
          </a:p>
          <a:p>
            <a:pPr indent="0" lvl="0" marL="0" rtl="0">
              <a:lnSpc>
                <a:spcPct val="115000"/>
              </a:lnSpc>
              <a:spcBef>
                <a:spcPts val="0"/>
              </a:spcBef>
              <a:spcAft>
                <a:spcPts val="0"/>
              </a:spcAft>
              <a:buNone/>
            </a:pPr>
            <a:r>
              <a:t/>
            </a:r>
            <a:endParaRPr/>
          </a:p>
          <a:p>
            <a:pPr indent="0" lvl="0" marL="0" rtl="0">
              <a:lnSpc>
                <a:spcPct val="115000"/>
              </a:lnSpc>
              <a:spcBef>
                <a:spcPts val="0"/>
              </a:spcBef>
              <a:spcAft>
                <a:spcPts val="0"/>
              </a:spcAft>
              <a:buNone/>
            </a:pPr>
            <a:r>
              <a:rPr lang="en"/>
              <a:t>During the course, we will be using this slide as a guide. You can access this slide using the link. If at any point in time, you guys have any questions or you are stuck. You can feel free to ask me or approach the student helpers</a:t>
            </a:r>
            <a:r>
              <a:rPr lang="en">
                <a:solidFill>
                  <a:srgbClr val="FF0000"/>
                </a:solidFill>
              </a:rPr>
              <a:t> </a:t>
            </a:r>
            <a:r>
              <a:rPr lang="en"/>
              <a:t>at the side of the room.</a:t>
            </a:r>
            <a:endParaRPr/>
          </a:p>
          <a:p>
            <a:pPr indent="0" lvl="0" marL="0" rtl="0">
              <a:lnSpc>
                <a:spcPct val="115000"/>
              </a:lnSpc>
              <a:spcBef>
                <a:spcPts val="0"/>
              </a:spcBef>
              <a:spcAft>
                <a:spcPts val="0"/>
              </a:spcAft>
              <a:buNone/>
            </a:pPr>
            <a:r>
              <a:t/>
            </a:r>
            <a:endParaRPr/>
          </a:p>
          <a:p>
            <a:pPr indent="0" lvl="0" marL="0" rtl="0">
              <a:lnSpc>
                <a:spcPct val="115000"/>
              </a:lnSpc>
              <a:spcBef>
                <a:spcPts val="0"/>
              </a:spcBef>
              <a:spcAft>
                <a:spcPts val="0"/>
              </a:spcAft>
              <a:buNone/>
            </a:pPr>
            <a:r>
              <a:rPr lang="en"/>
              <a:t>Is everyone on this slides?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 name="Shape 69"/>
        <p:cNvGrpSpPr/>
        <p:nvPr/>
      </p:nvGrpSpPr>
      <p:grpSpPr>
        <a:xfrm>
          <a:off x="0" y="0"/>
          <a:ext cx="0" cy="0"/>
          <a:chOff x="0" y="0"/>
          <a:chExt cx="0" cy="0"/>
        </a:xfrm>
      </p:grpSpPr>
      <p:sp>
        <p:nvSpPr>
          <p:cNvPr id="70" name="Shape 7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1" name="Shape 71"/>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nSpc>
                <a:spcPct val="115000"/>
              </a:lnSpc>
              <a:spcBef>
                <a:spcPts val="0"/>
              </a:spcBef>
              <a:spcAft>
                <a:spcPts val="0"/>
              </a:spcAft>
              <a:buNone/>
            </a:pPr>
            <a:r>
              <a:rPr lang="en" sz="1600">
                <a:solidFill>
                  <a:schemeClr val="accent3"/>
                </a:solidFill>
                <a:latin typeface="Average"/>
                <a:ea typeface="Average"/>
                <a:cs typeface="Average"/>
                <a:sym typeface="Average"/>
              </a:rPr>
              <a:t>The </a:t>
            </a:r>
            <a:r>
              <a:rPr lang="en" sz="1600">
                <a:solidFill>
                  <a:schemeClr val="accent3"/>
                </a:solidFill>
                <a:latin typeface="Average"/>
                <a:ea typeface="Average"/>
                <a:cs typeface="Average"/>
                <a:sym typeface="Average"/>
                <a:hlinkClick r:id="rId2"/>
              </a:rPr>
              <a:t>BBC micro:bit</a:t>
            </a:r>
            <a:r>
              <a:rPr lang="en" sz="1600">
                <a:solidFill>
                  <a:schemeClr val="accent3"/>
                </a:solidFill>
                <a:latin typeface="Average"/>
                <a:ea typeface="Average"/>
                <a:cs typeface="Average"/>
                <a:sym typeface="Average"/>
              </a:rPr>
              <a:t> is a pocket-sized codeable computer with motion detection, a built-in compass and Bluetooth connectivity, which is given free to every child in year 7 or equivalent across the UK. It aims to inspire young people to get creative with digital environments and develop core skills in science, technology and engineering.</a:t>
            </a:r>
            <a:endParaRPr sz="1600">
              <a:solidFill>
                <a:schemeClr val="accent3"/>
              </a:solidFill>
              <a:latin typeface="Average"/>
              <a:ea typeface="Average"/>
              <a:cs typeface="Average"/>
              <a:sym typeface="Average"/>
            </a:endParaRPr>
          </a:p>
          <a:p>
            <a:pPr indent="0" lvl="0" marL="0" rtl="0">
              <a:lnSpc>
                <a:spcPct val="115000"/>
              </a:lnSpc>
              <a:spcBef>
                <a:spcPts val="1600"/>
              </a:spcBef>
              <a:spcAft>
                <a:spcPts val="0"/>
              </a:spcAft>
              <a:buNone/>
            </a:pPr>
            <a:r>
              <a:rPr lang="en" sz="1600">
                <a:solidFill>
                  <a:schemeClr val="accent3"/>
                </a:solidFill>
                <a:latin typeface="Average"/>
                <a:ea typeface="Average"/>
                <a:cs typeface="Average"/>
                <a:sym typeface="Average"/>
              </a:rPr>
              <a:t>Easy to learn n can make some cool projects with it.</a:t>
            </a:r>
            <a:endParaRPr sz="1600">
              <a:solidFill>
                <a:schemeClr val="accent3"/>
              </a:solidFill>
              <a:latin typeface="Average"/>
              <a:ea typeface="Average"/>
              <a:cs typeface="Average"/>
              <a:sym typeface="Average"/>
            </a:endParaRPr>
          </a:p>
          <a:p>
            <a:pPr indent="0" lvl="0" marL="0" rtl="0">
              <a:spcBef>
                <a:spcPts val="1600"/>
              </a:spcBef>
              <a:spcAft>
                <a:spcPts val="0"/>
              </a:spcAft>
              <a:buNone/>
            </a:pPr>
            <a:r>
              <a:rPr lang="en"/>
              <a:t>A display consisting of 25 red LEDs;</a:t>
            </a:r>
            <a:br>
              <a:rPr lang="en"/>
            </a:br>
            <a:r>
              <a:rPr lang="en"/>
              <a:t>Two programmable buttons;</a:t>
            </a:r>
            <a:br>
              <a:rPr lang="en"/>
            </a:br>
            <a:r>
              <a:rPr lang="en"/>
              <a:t>An on-board motion sensor or “accelerometer”;</a:t>
            </a:r>
            <a:br>
              <a:rPr lang="en"/>
            </a:br>
            <a:r>
              <a:rPr lang="en"/>
              <a:t>measure the rate of tilting</a:t>
            </a:r>
            <a:endParaRPr/>
          </a:p>
          <a:p>
            <a:pPr indent="0" lvl="0" marL="0" rtl="0">
              <a:spcBef>
                <a:spcPts val="0"/>
              </a:spcBef>
              <a:spcAft>
                <a:spcPts val="0"/>
              </a:spcAft>
              <a:buNone/>
            </a:pPr>
            <a:r>
              <a:rPr lang="en"/>
              <a:t>A built-in compass or “magnetometer”;</a:t>
            </a:r>
            <a:br>
              <a:rPr lang="en"/>
            </a:br>
            <a:r>
              <a:rPr lang="en"/>
              <a:t>Bluetooth Smart Technology;</a:t>
            </a:r>
            <a:br>
              <a:rPr lang="en"/>
            </a:br>
            <a:r>
              <a:rPr lang="en"/>
              <a:t>Three input and output (I/O) rings</a:t>
            </a:r>
            <a:endParaRPr/>
          </a:p>
          <a:p>
            <a:pPr indent="0" lvl="0" marL="0" rtl="0">
              <a:lnSpc>
                <a:spcPct val="115000"/>
              </a:lnSpc>
              <a:spcBef>
                <a:spcPts val="0"/>
              </a:spcBef>
              <a:spcAft>
                <a:spcPts val="1600"/>
              </a:spcAft>
              <a:buNone/>
            </a:pPr>
            <a:r>
              <a:t/>
            </a:r>
            <a:endParaRPr sz="1600">
              <a:solidFill>
                <a:schemeClr val="accent3"/>
              </a:solidFill>
              <a:latin typeface="Average"/>
              <a:ea typeface="Average"/>
              <a:cs typeface="Average"/>
              <a:sym typeface="Average"/>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7" name="Shape 77"/>
        <p:cNvGrpSpPr/>
        <p:nvPr/>
      </p:nvGrpSpPr>
      <p:grpSpPr>
        <a:xfrm>
          <a:off x="0" y="0"/>
          <a:ext cx="0" cy="0"/>
          <a:chOff x="0" y="0"/>
          <a:chExt cx="0" cy="0"/>
        </a:xfrm>
      </p:grpSpPr>
      <p:sp>
        <p:nvSpPr>
          <p:cNvPr id="78" name="Shape 7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9" name="Shape 79"/>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3" name="Shape 83"/>
        <p:cNvGrpSpPr/>
        <p:nvPr/>
      </p:nvGrpSpPr>
      <p:grpSpPr>
        <a:xfrm>
          <a:off x="0" y="0"/>
          <a:ext cx="0" cy="0"/>
          <a:chOff x="0" y="0"/>
          <a:chExt cx="0" cy="0"/>
        </a:xfrm>
      </p:grpSpPr>
      <p:sp>
        <p:nvSpPr>
          <p:cNvPr id="84" name="Shape 8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5" name="Shape 85"/>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Rishworth school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0" name="Shape 90"/>
        <p:cNvGrpSpPr/>
        <p:nvPr/>
      </p:nvGrpSpPr>
      <p:grpSpPr>
        <a:xfrm>
          <a:off x="0" y="0"/>
          <a:ext cx="0" cy="0"/>
          <a:chOff x="0" y="0"/>
          <a:chExt cx="0" cy="0"/>
        </a:xfrm>
      </p:grpSpPr>
      <p:sp>
        <p:nvSpPr>
          <p:cNvPr id="91" name="Shape 9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2" name="Shape 9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8" name="Shape 98"/>
        <p:cNvGrpSpPr/>
        <p:nvPr/>
      </p:nvGrpSpPr>
      <p:grpSpPr>
        <a:xfrm>
          <a:off x="0" y="0"/>
          <a:ext cx="0" cy="0"/>
          <a:chOff x="0" y="0"/>
          <a:chExt cx="0" cy="0"/>
        </a:xfrm>
      </p:grpSpPr>
      <p:sp>
        <p:nvSpPr>
          <p:cNvPr id="99" name="Shape 9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0" name="Shape 10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4" name="Shape 104"/>
        <p:cNvGrpSpPr/>
        <p:nvPr/>
      </p:nvGrpSpPr>
      <p:grpSpPr>
        <a:xfrm>
          <a:off x="0" y="0"/>
          <a:ext cx="0" cy="0"/>
          <a:chOff x="0" y="0"/>
          <a:chExt cx="0" cy="0"/>
        </a:xfrm>
      </p:grpSpPr>
      <p:sp>
        <p:nvSpPr>
          <p:cNvPr id="105" name="Shape 10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6" name="Shape 106"/>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0" name="Shape 110"/>
        <p:cNvGrpSpPr/>
        <p:nvPr/>
      </p:nvGrpSpPr>
      <p:grpSpPr>
        <a:xfrm>
          <a:off x="0" y="0"/>
          <a:ext cx="0" cy="0"/>
          <a:chOff x="0" y="0"/>
          <a:chExt cx="0" cy="0"/>
        </a:xfrm>
      </p:grpSpPr>
      <p:sp>
        <p:nvSpPr>
          <p:cNvPr id="111" name="Shape 11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2" name="Shape 11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 name="Shape 121"/>
        <p:cNvGrpSpPr/>
        <p:nvPr/>
      </p:nvGrpSpPr>
      <p:grpSpPr>
        <a:xfrm>
          <a:off x="0" y="0"/>
          <a:ext cx="0" cy="0"/>
          <a:chOff x="0" y="0"/>
          <a:chExt cx="0" cy="0"/>
        </a:xfrm>
      </p:grpSpPr>
      <p:sp>
        <p:nvSpPr>
          <p:cNvPr id="122" name="Shape 12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3" name="Shape 123"/>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8" name="Shape 128"/>
        <p:cNvGrpSpPr/>
        <p:nvPr/>
      </p:nvGrpSpPr>
      <p:grpSpPr>
        <a:xfrm>
          <a:off x="0" y="0"/>
          <a:ext cx="0" cy="0"/>
          <a:chOff x="0" y="0"/>
          <a:chExt cx="0" cy="0"/>
        </a:xfrm>
      </p:grpSpPr>
      <p:sp>
        <p:nvSpPr>
          <p:cNvPr id="129" name="Shape 12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30" name="Shape 13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4" name="Shape 134"/>
        <p:cNvGrpSpPr/>
        <p:nvPr/>
      </p:nvGrpSpPr>
      <p:grpSpPr>
        <a:xfrm>
          <a:off x="0" y="0"/>
          <a:ext cx="0" cy="0"/>
          <a:chOff x="0" y="0"/>
          <a:chExt cx="0" cy="0"/>
        </a:xfrm>
      </p:grpSpPr>
      <p:sp>
        <p:nvSpPr>
          <p:cNvPr id="135" name="Shape 13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36" name="Shape 136"/>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0" name="Shape 140"/>
        <p:cNvGrpSpPr/>
        <p:nvPr/>
      </p:nvGrpSpPr>
      <p:grpSpPr>
        <a:xfrm>
          <a:off x="0" y="0"/>
          <a:ext cx="0" cy="0"/>
          <a:chOff x="0" y="0"/>
          <a:chExt cx="0" cy="0"/>
        </a:xfrm>
      </p:grpSpPr>
      <p:sp>
        <p:nvSpPr>
          <p:cNvPr id="141" name="Shape 14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42" name="Shape 14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5" name="Shape 145"/>
        <p:cNvGrpSpPr/>
        <p:nvPr/>
      </p:nvGrpSpPr>
      <p:grpSpPr>
        <a:xfrm>
          <a:off x="0" y="0"/>
          <a:ext cx="0" cy="0"/>
          <a:chOff x="0" y="0"/>
          <a:chExt cx="0" cy="0"/>
        </a:xfrm>
      </p:grpSpPr>
      <p:sp>
        <p:nvSpPr>
          <p:cNvPr id="146" name="Shape 14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47" name="Shape 147"/>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3" name="Shape 153"/>
        <p:cNvGrpSpPr/>
        <p:nvPr/>
      </p:nvGrpSpPr>
      <p:grpSpPr>
        <a:xfrm>
          <a:off x="0" y="0"/>
          <a:ext cx="0" cy="0"/>
          <a:chOff x="0" y="0"/>
          <a:chExt cx="0" cy="0"/>
        </a:xfrm>
      </p:grpSpPr>
      <p:sp>
        <p:nvSpPr>
          <p:cNvPr id="154" name="Shape 15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55" name="Shape 155"/>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7" name="Shape 167"/>
        <p:cNvGrpSpPr/>
        <p:nvPr/>
      </p:nvGrpSpPr>
      <p:grpSpPr>
        <a:xfrm>
          <a:off x="0" y="0"/>
          <a:ext cx="0" cy="0"/>
          <a:chOff x="0" y="0"/>
          <a:chExt cx="0" cy="0"/>
        </a:xfrm>
      </p:grpSpPr>
      <p:sp>
        <p:nvSpPr>
          <p:cNvPr id="168" name="Shape 16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69" name="Shape 169"/>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3" name="Shape 173"/>
        <p:cNvGrpSpPr/>
        <p:nvPr/>
      </p:nvGrpSpPr>
      <p:grpSpPr>
        <a:xfrm>
          <a:off x="0" y="0"/>
          <a:ext cx="0" cy="0"/>
          <a:chOff x="0" y="0"/>
          <a:chExt cx="0" cy="0"/>
        </a:xfrm>
      </p:grpSpPr>
      <p:sp>
        <p:nvSpPr>
          <p:cNvPr id="174" name="Shape 17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75" name="Shape 175"/>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1" name="Shape 181"/>
        <p:cNvGrpSpPr/>
        <p:nvPr/>
      </p:nvGrpSpPr>
      <p:grpSpPr>
        <a:xfrm>
          <a:off x="0" y="0"/>
          <a:ext cx="0" cy="0"/>
          <a:chOff x="0" y="0"/>
          <a:chExt cx="0" cy="0"/>
        </a:xfrm>
      </p:grpSpPr>
      <p:sp>
        <p:nvSpPr>
          <p:cNvPr id="182" name="Shape 18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83" name="Shape 183"/>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7" name="Shape 187"/>
        <p:cNvGrpSpPr/>
        <p:nvPr/>
      </p:nvGrpSpPr>
      <p:grpSpPr>
        <a:xfrm>
          <a:off x="0" y="0"/>
          <a:ext cx="0" cy="0"/>
          <a:chOff x="0" y="0"/>
          <a:chExt cx="0" cy="0"/>
        </a:xfrm>
      </p:grpSpPr>
      <p:sp>
        <p:nvSpPr>
          <p:cNvPr id="188" name="Shape 18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89" name="Shape 189"/>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3" name="Shape 193"/>
        <p:cNvGrpSpPr/>
        <p:nvPr/>
      </p:nvGrpSpPr>
      <p:grpSpPr>
        <a:xfrm>
          <a:off x="0" y="0"/>
          <a:ext cx="0" cy="0"/>
          <a:chOff x="0" y="0"/>
          <a:chExt cx="0" cy="0"/>
        </a:xfrm>
      </p:grpSpPr>
      <p:sp>
        <p:nvSpPr>
          <p:cNvPr id="194" name="Shape 19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95" name="Shape 195"/>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1" name="Shape 201"/>
        <p:cNvGrpSpPr/>
        <p:nvPr/>
      </p:nvGrpSpPr>
      <p:grpSpPr>
        <a:xfrm>
          <a:off x="0" y="0"/>
          <a:ext cx="0" cy="0"/>
          <a:chOff x="0" y="0"/>
          <a:chExt cx="0" cy="0"/>
        </a:xfrm>
      </p:grpSpPr>
      <p:sp>
        <p:nvSpPr>
          <p:cNvPr id="202" name="Shape 20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03" name="Shape 203"/>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8" name="Shape 208"/>
        <p:cNvGrpSpPr/>
        <p:nvPr/>
      </p:nvGrpSpPr>
      <p:grpSpPr>
        <a:xfrm>
          <a:off x="0" y="0"/>
          <a:ext cx="0" cy="0"/>
          <a:chOff x="0" y="0"/>
          <a:chExt cx="0" cy="0"/>
        </a:xfrm>
      </p:grpSpPr>
      <p:sp>
        <p:nvSpPr>
          <p:cNvPr id="209" name="Shape 20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10" name="Shape 21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5" name="Shape 215"/>
        <p:cNvGrpSpPr/>
        <p:nvPr/>
      </p:nvGrpSpPr>
      <p:grpSpPr>
        <a:xfrm>
          <a:off x="0" y="0"/>
          <a:ext cx="0" cy="0"/>
          <a:chOff x="0" y="0"/>
          <a:chExt cx="0" cy="0"/>
        </a:xfrm>
      </p:grpSpPr>
      <p:sp>
        <p:nvSpPr>
          <p:cNvPr id="216" name="Shape 21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17" name="Shape 217"/>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2" name="Shape 222"/>
        <p:cNvGrpSpPr/>
        <p:nvPr/>
      </p:nvGrpSpPr>
      <p:grpSpPr>
        <a:xfrm>
          <a:off x="0" y="0"/>
          <a:ext cx="0" cy="0"/>
          <a:chOff x="0" y="0"/>
          <a:chExt cx="0" cy="0"/>
        </a:xfrm>
      </p:grpSpPr>
      <p:sp>
        <p:nvSpPr>
          <p:cNvPr id="223" name="Shape 22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24" name="Shape 22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from microbit import *</a:t>
            </a:r>
            <a:endParaRPr/>
          </a:p>
          <a:p>
            <a:pPr indent="0" lvl="0" marL="0">
              <a:spcBef>
                <a:spcPts val="0"/>
              </a:spcBef>
              <a:spcAft>
                <a:spcPts val="0"/>
              </a:spcAft>
              <a:buNone/>
            </a:pPr>
            <a:r>
              <a:rPr lang="en"/>
              <a:t>import random</a:t>
            </a:r>
            <a:endParaRPr/>
          </a:p>
          <a:p>
            <a:pPr indent="0" lvl="0" marL="0">
              <a:spcBef>
                <a:spcPts val="0"/>
              </a:spcBef>
              <a:spcAft>
                <a:spcPts val="0"/>
              </a:spcAft>
              <a:buNone/>
            </a:pPr>
            <a:r>
              <a:t/>
            </a:r>
            <a:endParaRPr/>
          </a:p>
          <a:p>
            <a:pPr indent="0" lvl="0" marL="0">
              <a:spcBef>
                <a:spcPts val="0"/>
              </a:spcBef>
              <a:spcAft>
                <a:spcPts val="0"/>
              </a:spcAft>
              <a:buNone/>
            </a:pPr>
            <a:r>
              <a:t/>
            </a:r>
            <a:endParaRPr/>
          </a:p>
          <a:p>
            <a:pPr indent="0" lvl="0" marL="0">
              <a:spcBef>
                <a:spcPts val="0"/>
              </a:spcBef>
              <a:spcAft>
                <a:spcPts val="0"/>
              </a:spcAft>
              <a:buNone/>
            </a:pPr>
            <a:r>
              <a:rPr lang="en"/>
              <a:t>def render(play, grid):</a:t>
            </a:r>
            <a:endParaRPr/>
          </a:p>
          <a:p>
            <a:pPr indent="0" lvl="0" marL="0">
              <a:spcBef>
                <a:spcPts val="0"/>
              </a:spcBef>
              <a:spcAft>
                <a:spcPts val="0"/>
              </a:spcAft>
              <a:buNone/>
            </a:pPr>
            <a:r>
              <a:rPr lang="en"/>
              <a:t>    read = accelerometer.get_x()</a:t>
            </a:r>
            <a:endParaRPr/>
          </a:p>
          <a:p>
            <a:pPr indent="0" lvl="0" marL="0">
              <a:spcBef>
                <a:spcPts val="0"/>
              </a:spcBef>
              <a:spcAft>
                <a:spcPts val="0"/>
              </a:spcAft>
              <a:buNone/>
            </a:pPr>
            <a:r>
              <a:rPr lang="en"/>
              <a:t>    if read &gt; 200 and play &lt;4:</a:t>
            </a:r>
            <a:endParaRPr/>
          </a:p>
          <a:p>
            <a:pPr indent="0" lvl="0" marL="0">
              <a:spcBef>
                <a:spcPts val="0"/>
              </a:spcBef>
              <a:spcAft>
                <a:spcPts val="0"/>
              </a:spcAft>
              <a:buNone/>
            </a:pPr>
            <a:r>
              <a:rPr lang="en"/>
              <a:t>        play += 1</a:t>
            </a:r>
            <a:endParaRPr/>
          </a:p>
          <a:p>
            <a:pPr indent="0" lvl="0" marL="0">
              <a:spcBef>
                <a:spcPts val="0"/>
              </a:spcBef>
              <a:spcAft>
                <a:spcPts val="0"/>
              </a:spcAft>
              <a:buNone/>
            </a:pPr>
            <a:r>
              <a:rPr lang="en"/>
              <a:t>    elif read &lt; -200 and play &gt;0:</a:t>
            </a:r>
            <a:endParaRPr/>
          </a:p>
          <a:p>
            <a:pPr indent="0" lvl="0" marL="0">
              <a:spcBef>
                <a:spcPts val="0"/>
              </a:spcBef>
              <a:spcAft>
                <a:spcPts val="0"/>
              </a:spcAft>
              <a:buNone/>
            </a:pPr>
            <a:r>
              <a:rPr lang="en"/>
              <a:t>        play -= 1</a:t>
            </a:r>
            <a:endParaRPr/>
          </a:p>
          <a:p>
            <a:pPr indent="0" lvl="0" marL="0">
              <a:spcBef>
                <a:spcPts val="0"/>
              </a:spcBef>
              <a:spcAft>
                <a:spcPts val="0"/>
              </a:spcAft>
              <a:buNone/>
            </a:pPr>
            <a:r>
              <a:rPr lang="en"/>
              <a:t>    image = ""</a:t>
            </a:r>
            <a:endParaRPr/>
          </a:p>
          <a:p>
            <a:pPr indent="0" lvl="0" marL="0">
              <a:spcBef>
                <a:spcPts val="0"/>
              </a:spcBef>
              <a:spcAft>
                <a:spcPts val="0"/>
              </a:spcAft>
              <a:buNone/>
            </a:pPr>
            <a:r>
              <a:rPr lang="en"/>
              <a:t>    for i in range(4):</a:t>
            </a:r>
            <a:endParaRPr/>
          </a:p>
          <a:p>
            <a:pPr indent="0" lvl="0" marL="0">
              <a:spcBef>
                <a:spcPts val="0"/>
              </a:spcBef>
              <a:spcAft>
                <a:spcPts val="0"/>
              </a:spcAft>
              <a:buNone/>
            </a:pPr>
            <a:r>
              <a:rPr lang="en"/>
              <a:t>        image += ''.join(grid[i]) + ":"</a:t>
            </a:r>
            <a:endParaRPr/>
          </a:p>
          <a:p>
            <a:pPr indent="0" lvl="0" marL="0">
              <a:spcBef>
                <a:spcPts val="0"/>
              </a:spcBef>
              <a:spcAft>
                <a:spcPts val="0"/>
              </a:spcAft>
              <a:buNone/>
            </a:pPr>
            <a:r>
              <a:rPr lang="en"/>
              <a:t>    player = ["0","0","0","0","0"]</a:t>
            </a:r>
            <a:endParaRPr/>
          </a:p>
          <a:p>
            <a:pPr indent="0" lvl="0" marL="0">
              <a:spcBef>
                <a:spcPts val="0"/>
              </a:spcBef>
              <a:spcAft>
                <a:spcPts val="0"/>
              </a:spcAft>
              <a:buNone/>
            </a:pPr>
            <a:r>
              <a:rPr lang="en"/>
              <a:t>    player[play] = "9"</a:t>
            </a:r>
            <a:endParaRPr/>
          </a:p>
          <a:p>
            <a:pPr indent="0" lvl="0" marL="0">
              <a:spcBef>
                <a:spcPts val="0"/>
              </a:spcBef>
              <a:spcAft>
                <a:spcPts val="0"/>
              </a:spcAft>
              <a:buNone/>
            </a:pPr>
            <a:r>
              <a:rPr lang="en"/>
              <a:t>    image += ''.join(player)</a:t>
            </a:r>
            <a:endParaRPr/>
          </a:p>
          <a:p>
            <a:pPr indent="0" lvl="0" marL="0">
              <a:spcBef>
                <a:spcPts val="0"/>
              </a:spcBef>
              <a:spcAft>
                <a:spcPts val="0"/>
              </a:spcAft>
              <a:buNone/>
            </a:pPr>
            <a:r>
              <a:rPr lang="en"/>
              <a:t>    img = Image(image)</a:t>
            </a:r>
            <a:endParaRPr/>
          </a:p>
          <a:p>
            <a:pPr indent="0" lvl="0" marL="0">
              <a:spcBef>
                <a:spcPts val="0"/>
              </a:spcBef>
              <a:spcAft>
                <a:spcPts val="0"/>
              </a:spcAft>
              <a:buNone/>
            </a:pPr>
            <a:r>
              <a:rPr lang="en"/>
              <a:t>    display.show(img)</a:t>
            </a:r>
            <a:endParaRPr/>
          </a:p>
          <a:p>
            <a:pPr indent="0" lvl="0" marL="0">
              <a:spcBef>
                <a:spcPts val="0"/>
              </a:spcBef>
              <a:spcAft>
                <a:spcPts val="0"/>
              </a:spcAft>
              <a:buNone/>
            </a:pPr>
            <a:r>
              <a:rPr lang="en"/>
              <a:t>    sleep(150)</a:t>
            </a:r>
            <a:endParaRPr/>
          </a:p>
          <a:p>
            <a:pPr indent="0" lvl="0" marL="0">
              <a:spcBef>
                <a:spcPts val="0"/>
              </a:spcBef>
              <a:spcAft>
                <a:spcPts val="0"/>
              </a:spcAft>
              <a:buNone/>
            </a:pPr>
            <a:r>
              <a:rPr lang="en"/>
              <a:t>    return play</a:t>
            </a:r>
            <a:endParaRPr/>
          </a:p>
          <a:p>
            <a:pPr indent="0" lvl="0" marL="0">
              <a:spcBef>
                <a:spcPts val="0"/>
              </a:spcBef>
              <a:spcAft>
                <a:spcPts val="0"/>
              </a:spcAft>
              <a:buNone/>
            </a:pPr>
            <a:r>
              <a:t/>
            </a:r>
            <a:endParaRPr/>
          </a:p>
          <a:p>
            <a:pPr indent="0" lvl="0" marL="0">
              <a:spcBef>
                <a:spcPts val="0"/>
              </a:spcBef>
              <a:spcAft>
                <a:spcPts val="0"/>
              </a:spcAft>
              <a:buNone/>
            </a:pPr>
            <a:r>
              <a:rPr lang="en"/>
              <a:t>display.show("A")</a:t>
            </a:r>
            <a:endParaRPr/>
          </a:p>
          <a:p>
            <a:pPr indent="0" lvl="0" marL="0">
              <a:spcBef>
                <a:spcPts val="0"/>
              </a:spcBef>
              <a:spcAft>
                <a:spcPts val="0"/>
              </a:spcAft>
              <a:buNone/>
            </a:pPr>
            <a:r>
              <a:rPr lang="en"/>
              <a:t>while True:</a:t>
            </a:r>
            <a:endParaRPr/>
          </a:p>
          <a:p>
            <a:pPr indent="0" lvl="0" marL="0">
              <a:spcBef>
                <a:spcPts val="0"/>
              </a:spcBef>
              <a:spcAft>
                <a:spcPts val="0"/>
              </a:spcAft>
              <a:buNone/>
            </a:pPr>
            <a:r>
              <a:rPr lang="en"/>
              <a:t>    if button_a.is_pressed():</a:t>
            </a:r>
            <a:endParaRPr/>
          </a:p>
          <a:p>
            <a:pPr indent="0" lvl="0" marL="0">
              <a:spcBef>
                <a:spcPts val="0"/>
              </a:spcBef>
              <a:spcAft>
                <a:spcPts val="0"/>
              </a:spcAft>
              <a:buNone/>
            </a:pPr>
            <a:r>
              <a:rPr lang="en"/>
              <a:t>        score = 0</a:t>
            </a:r>
            <a:endParaRPr/>
          </a:p>
          <a:p>
            <a:pPr indent="0" lvl="0" marL="0">
              <a:spcBef>
                <a:spcPts val="0"/>
              </a:spcBef>
              <a:spcAft>
                <a:spcPts val="0"/>
              </a:spcAft>
              <a:buNone/>
            </a:pPr>
            <a:r>
              <a:rPr lang="en"/>
              <a:t>        grid = [["0","0","0","0","0"] for i in range(4)]</a:t>
            </a:r>
            <a:endParaRPr/>
          </a:p>
          <a:p>
            <a:pPr indent="0" lvl="0" marL="0">
              <a:spcBef>
                <a:spcPts val="0"/>
              </a:spcBef>
              <a:spcAft>
                <a:spcPts val="0"/>
              </a:spcAft>
              <a:buNone/>
            </a:pPr>
            <a:r>
              <a:rPr lang="en"/>
              <a:t>        play = 2</a:t>
            </a:r>
            <a:endParaRPr/>
          </a:p>
          <a:p>
            <a:pPr indent="0" lvl="0" marL="0">
              <a:spcBef>
                <a:spcPts val="0"/>
              </a:spcBef>
              <a:spcAft>
                <a:spcPts val="0"/>
              </a:spcAft>
              <a:buNone/>
            </a:pPr>
            <a:r>
              <a:rPr lang="en"/>
              <a:t>        while True:</a:t>
            </a:r>
            <a:endParaRPr/>
          </a:p>
          <a:p>
            <a:pPr indent="0" lvl="0" marL="0">
              <a:spcBef>
                <a:spcPts val="0"/>
              </a:spcBef>
              <a:spcAft>
                <a:spcPts val="0"/>
              </a:spcAft>
              <a:buNone/>
            </a:pPr>
            <a:r>
              <a:rPr lang="en"/>
              <a:t>            if button_b.is_pressed():</a:t>
            </a:r>
            <a:endParaRPr/>
          </a:p>
          <a:p>
            <a:pPr indent="0" lvl="0" marL="0">
              <a:spcBef>
                <a:spcPts val="0"/>
              </a:spcBef>
              <a:spcAft>
                <a:spcPts val="0"/>
              </a:spcAft>
              <a:buNone/>
            </a:pPr>
            <a:r>
              <a:rPr lang="en"/>
              <a:t>                display.show("A")</a:t>
            </a:r>
            <a:endParaRPr/>
          </a:p>
          <a:p>
            <a:pPr indent="0" lvl="0" marL="0">
              <a:spcBef>
                <a:spcPts val="0"/>
              </a:spcBef>
              <a:spcAft>
                <a:spcPts val="0"/>
              </a:spcAft>
              <a:buNone/>
            </a:pPr>
            <a:r>
              <a:rPr lang="en"/>
              <a:t>                break</a:t>
            </a:r>
            <a:endParaRPr/>
          </a:p>
          <a:p>
            <a:pPr indent="0" lvl="0" marL="0">
              <a:spcBef>
                <a:spcPts val="0"/>
              </a:spcBef>
              <a:spcAft>
                <a:spcPts val="0"/>
              </a:spcAft>
              <a:buNone/>
            </a:pPr>
            <a:r>
              <a:rPr lang="en"/>
              <a:t>            if grid[3][play]=="4":</a:t>
            </a:r>
            <a:endParaRPr/>
          </a:p>
          <a:p>
            <a:pPr indent="0" lvl="0" marL="0">
              <a:spcBef>
                <a:spcPts val="0"/>
              </a:spcBef>
              <a:spcAft>
                <a:spcPts val="0"/>
              </a:spcAft>
              <a:buNone/>
            </a:pPr>
            <a:r>
              <a:rPr lang="en"/>
              <a:t>                message = "SCORE:" + str(score//10)</a:t>
            </a:r>
            <a:endParaRPr/>
          </a:p>
          <a:p>
            <a:pPr indent="0" lvl="0" marL="0">
              <a:spcBef>
                <a:spcPts val="0"/>
              </a:spcBef>
              <a:spcAft>
                <a:spcPts val="0"/>
              </a:spcAft>
              <a:buNone/>
            </a:pPr>
            <a:r>
              <a:rPr lang="en"/>
              <a:t>                display.scroll(message)</a:t>
            </a:r>
            <a:endParaRPr/>
          </a:p>
          <a:p>
            <a:pPr indent="0" lvl="0" marL="0">
              <a:spcBef>
                <a:spcPts val="0"/>
              </a:spcBef>
              <a:spcAft>
                <a:spcPts val="0"/>
              </a:spcAft>
              <a:buNone/>
            </a:pPr>
            <a:r>
              <a:rPr lang="en"/>
              <a:t>                break</a:t>
            </a:r>
            <a:endParaRPr/>
          </a:p>
          <a:p>
            <a:pPr indent="0" lvl="0" marL="0">
              <a:spcBef>
                <a:spcPts val="0"/>
              </a:spcBef>
              <a:spcAft>
                <a:spcPts val="0"/>
              </a:spcAft>
              <a:buNone/>
            </a:pPr>
            <a:r>
              <a:rPr lang="en"/>
              <a:t>            en = random.randint(0,4)</a:t>
            </a:r>
            <a:endParaRPr/>
          </a:p>
          <a:p>
            <a:pPr indent="0" lvl="0" marL="0">
              <a:spcBef>
                <a:spcPts val="0"/>
              </a:spcBef>
              <a:spcAft>
                <a:spcPts val="0"/>
              </a:spcAft>
              <a:buNone/>
            </a:pPr>
            <a:r>
              <a:rPr lang="en"/>
              <a:t>            grid[3], grid[2], grid[1] = grid[2], grid[1], grid[0]</a:t>
            </a:r>
            <a:endParaRPr/>
          </a:p>
          <a:p>
            <a:pPr indent="0" lvl="0" marL="0">
              <a:spcBef>
                <a:spcPts val="0"/>
              </a:spcBef>
              <a:spcAft>
                <a:spcPts val="0"/>
              </a:spcAft>
              <a:buNone/>
            </a:pPr>
            <a:r>
              <a:rPr lang="en"/>
              <a:t>            grid[0] = ["0","0","0","0","0"]</a:t>
            </a:r>
            <a:endParaRPr/>
          </a:p>
          <a:p>
            <a:pPr indent="0" lvl="0" marL="0">
              <a:spcBef>
                <a:spcPts val="0"/>
              </a:spcBef>
              <a:spcAft>
                <a:spcPts val="0"/>
              </a:spcAft>
              <a:buNone/>
            </a:pPr>
            <a:r>
              <a:rPr lang="en"/>
              <a:t>            if random.randint(0,3) != 0:</a:t>
            </a:r>
            <a:endParaRPr/>
          </a:p>
          <a:p>
            <a:pPr indent="0" lvl="0" marL="0">
              <a:spcBef>
                <a:spcPts val="0"/>
              </a:spcBef>
              <a:spcAft>
                <a:spcPts val="0"/>
              </a:spcAft>
              <a:buNone/>
            </a:pPr>
            <a:r>
              <a:rPr lang="en"/>
              <a:t>                grid[0][en] = "4"</a:t>
            </a:r>
            <a:endParaRPr/>
          </a:p>
          <a:p>
            <a:pPr indent="0" lvl="0" marL="0">
              <a:spcBef>
                <a:spcPts val="0"/>
              </a:spcBef>
              <a:spcAft>
                <a:spcPts val="0"/>
              </a:spcAft>
              <a:buNone/>
            </a:pPr>
            <a:r>
              <a:rPr lang="en"/>
              <a:t>            play = render(play, grid)</a:t>
            </a:r>
            <a:endParaRPr/>
          </a:p>
          <a:p>
            <a:pPr indent="0" lvl="0" marL="0">
              <a:spcBef>
                <a:spcPts val="0"/>
              </a:spcBef>
              <a:spcAft>
                <a:spcPts val="0"/>
              </a:spcAft>
              <a:buNone/>
            </a:pPr>
            <a:r>
              <a:rPr lang="en"/>
              <a:t>            play = render(play, grid)</a:t>
            </a:r>
            <a:endParaRPr/>
          </a:p>
          <a:p>
            <a:pPr indent="0" lvl="0" marL="0">
              <a:spcBef>
                <a:spcPts val="0"/>
              </a:spcBef>
              <a:spcAft>
                <a:spcPts val="0"/>
              </a:spcAft>
              <a:buNone/>
            </a:pPr>
            <a:r>
              <a:rPr lang="en"/>
              <a:t>            score+=1</a:t>
            </a:r>
            <a:endParaRPr/>
          </a:p>
          <a:p>
            <a:pPr indent="0" lvl="0" marL="0">
              <a:spcBef>
                <a:spcPts val="0"/>
              </a:spcBef>
              <a:spcAft>
                <a:spcPts val="0"/>
              </a:spcAft>
              <a:buNone/>
            </a:pPr>
            <a:r>
              <a:t/>
            </a:r>
            <a:endParaRPr/>
          </a:p>
          <a:p>
            <a:pPr indent="0" lvl="0" marL="0">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8" name="Shape 228"/>
        <p:cNvGrpSpPr/>
        <p:nvPr/>
      </p:nvGrpSpPr>
      <p:grpSpPr>
        <a:xfrm>
          <a:off x="0" y="0"/>
          <a:ext cx="0" cy="0"/>
          <a:chOff x="0" y="0"/>
          <a:chExt cx="0" cy="0"/>
        </a:xfrm>
      </p:grpSpPr>
      <p:sp>
        <p:nvSpPr>
          <p:cNvPr id="229" name="Shape 22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30" name="Shape 23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4" name="Shape 234"/>
        <p:cNvGrpSpPr/>
        <p:nvPr/>
      </p:nvGrpSpPr>
      <p:grpSpPr>
        <a:xfrm>
          <a:off x="0" y="0"/>
          <a:ext cx="0" cy="0"/>
          <a:chOff x="0" y="0"/>
          <a:chExt cx="0" cy="0"/>
        </a:xfrm>
      </p:grpSpPr>
      <p:sp>
        <p:nvSpPr>
          <p:cNvPr id="235" name="Shape 23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36" name="Shape 236"/>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0" name="Shape 240"/>
        <p:cNvGrpSpPr/>
        <p:nvPr/>
      </p:nvGrpSpPr>
      <p:grpSpPr>
        <a:xfrm>
          <a:off x="0" y="0"/>
          <a:ext cx="0" cy="0"/>
          <a:chOff x="0" y="0"/>
          <a:chExt cx="0" cy="0"/>
        </a:xfrm>
      </p:grpSpPr>
      <p:sp>
        <p:nvSpPr>
          <p:cNvPr id="241" name="Shape 24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42" name="Shape 24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6" name="Shape 246"/>
        <p:cNvGrpSpPr/>
        <p:nvPr/>
      </p:nvGrpSpPr>
      <p:grpSpPr>
        <a:xfrm>
          <a:off x="0" y="0"/>
          <a:ext cx="0" cy="0"/>
          <a:chOff x="0" y="0"/>
          <a:chExt cx="0" cy="0"/>
        </a:xfrm>
      </p:grpSpPr>
      <p:sp>
        <p:nvSpPr>
          <p:cNvPr id="247" name="Shape 24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48" name="Shape 248"/>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2" name="Shape 252"/>
        <p:cNvGrpSpPr/>
        <p:nvPr/>
      </p:nvGrpSpPr>
      <p:grpSpPr>
        <a:xfrm>
          <a:off x="0" y="0"/>
          <a:ext cx="0" cy="0"/>
          <a:chOff x="0" y="0"/>
          <a:chExt cx="0" cy="0"/>
        </a:xfrm>
      </p:grpSpPr>
      <p:sp>
        <p:nvSpPr>
          <p:cNvPr id="253" name="Shape 25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54" name="Shape 25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from microbit import *</a:t>
            </a:r>
            <a:endParaRPr/>
          </a:p>
          <a:p>
            <a:pPr indent="0" lvl="0" marL="0">
              <a:spcBef>
                <a:spcPts val="0"/>
              </a:spcBef>
              <a:spcAft>
                <a:spcPts val="0"/>
              </a:spcAft>
              <a:buNone/>
            </a:pPr>
            <a:r>
              <a:rPr lang="en"/>
              <a:t>from random import randint</a:t>
            </a:r>
            <a:endParaRPr/>
          </a:p>
          <a:p>
            <a:pPr indent="0" lvl="0" marL="0">
              <a:spcBef>
                <a:spcPts val="0"/>
              </a:spcBef>
              <a:spcAft>
                <a:spcPts val="0"/>
              </a:spcAft>
              <a:buNone/>
            </a:pPr>
            <a:r>
              <a:t/>
            </a:r>
            <a:endParaRPr/>
          </a:p>
          <a:p>
            <a:pPr indent="0" lvl="0" marL="0">
              <a:spcBef>
                <a:spcPts val="0"/>
              </a:spcBef>
              <a:spcAft>
                <a:spcPts val="0"/>
              </a:spcAft>
              <a:buNone/>
            </a:pPr>
            <a:r>
              <a:rPr lang="en"/>
              <a:t>arr = []</a:t>
            </a:r>
            <a:endParaRPr/>
          </a:p>
          <a:p>
            <a:pPr indent="0" lvl="0" marL="0">
              <a:spcBef>
                <a:spcPts val="0"/>
              </a:spcBef>
              <a:spcAft>
                <a:spcPts val="0"/>
              </a:spcAft>
              <a:buNone/>
            </a:pPr>
            <a:r>
              <a:t/>
            </a:r>
            <a:endParaRPr/>
          </a:p>
          <a:p>
            <a:pPr indent="0" lvl="0" marL="0">
              <a:spcBef>
                <a:spcPts val="0"/>
              </a:spcBef>
              <a:spcAft>
                <a:spcPts val="0"/>
              </a:spcAft>
              <a:buNone/>
            </a:pPr>
            <a:r>
              <a:rPr lang="en"/>
              <a:t>def read():</a:t>
            </a:r>
            <a:endParaRPr/>
          </a:p>
          <a:p>
            <a:pPr indent="0" lvl="0" marL="0">
              <a:spcBef>
                <a:spcPts val="0"/>
              </a:spcBef>
              <a:spcAft>
                <a:spcPts val="0"/>
              </a:spcAft>
              <a:buNone/>
            </a:pPr>
            <a:r>
              <a:rPr lang="en"/>
              <a:t>    if pin0.read_digital()==1:</a:t>
            </a:r>
            <a:endParaRPr/>
          </a:p>
          <a:p>
            <a:pPr indent="0" lvl="0" marL="0">
              <a:spcBef>
                <a:spcPts val="0"/>
              </a:spcBef>
              <a:spcAft>
                <a:spcPts val="0"/>
              </a:spcAft>
              <a:buNone/>
            </a:pPr>
            <a:r>
              <a:rPr lang="en"/>
              <a:t>        return 0</a:t>
            </a:r>
            <a:endParaRPr/>
          </a:p>
          <a:p>
            <a:pPr indent="0" lvl="0" marL="0">
              <a:spcBef>
                <a:spcPts val="0"/>
              </a:spcBef>
              <a:spcAft>
                <a:spcPts val="0"/>
              </a:spcAft>
              <a:buNone/>
            </a:pPr>
            <a:r>
              <a:rPr lang="en"/>
              <a:t>    elif pin12.read_digital()==1:</a:t>
            </a:r>
            <a:endParaRPr/>
          </a:p>
          <a:p>
            <a:pPr indent="0" lvl="0" marL="0">
              <a:spcBef>
                <a:spcPts val="0"/>
              </a:spcBef>
              <a:spcAft>
                <a:spcPts val="0"/>
              </a:spcAft>
              <a:buNone/>
            </a:pPr>
            <a:r>
              <a:rPr lang="en"/>
              <a:t>        return 1</a:t>
            </a:r>
            <a:endParaRPr/>
          </a:p>
          <a:p>
            <a:pPr indent="0" lvl="0" marL="0">
              <a:spcBef>
                <a:spcPts val="0"/>
              </a:spcBef>
              <a:spcAft>
                <a:spcPts val="0"/>
              </a:spcAft>
              <a:buNone/>
            </a:pPr>
            <a:r>
              <a:rPr lang="en"/>
              <a:t>    elif pin16.read_digital()==1:</a:t>
            </a:r>
            <a:endParaRPr/>
          </a:p>
          <a:p>
            <a:pPr indent="0" lvl="0" marL="0">
              <a:spcBef>
                <a:spcPts val="0"/>
              </a:spcBef>
              <a:spcAft>
                <a:spcPts val="0"/>
              </a:spcAft>
              <a:buNone/>
            </a:pPr>
            <a:r>
              <a:rPr lang="en"/>
              <a:t>        return 2</a:t>
            </a:r>
            <a:endParaRPr/>
          </a:p>
          <a:p>
            <a:pPr indent="0" lvl="0" marL="0">
              <a:spcBef>
                <a:spcPts val="0"/>
              </a:spcBef>
              <a:spcAft>
                <a:spcPts val="0"/>
              </a:spcAft>
              <a:buNone/>
            </a:pPr>
            <a:r>
              <a:rPr lang="en"/>
              <a:t>    else:</a:t>
            </a:r>
            <a:endParaRPr/>
          </a:p>
          <a:p>
            <a:pPr indent="0" lvl="0" marL="0">
              <a:spcBef>
                <a:spcPts val="0"/>
              </a:spcBef>
              <a:spcAft>
                <a:spcPts val="0"/>
              </a:spcAft>
              <a:buNone/>
            </a:pPr>
            <a:r>
              <a:rPr lang="en"/>
              <a:t>        return 3</a:t>
            </a:r>
            <a:endParaRPr/>
          </a:p>
          <a:p>
            <a:pPr indent="0" lvl="0" marL="0">
              <a:spcBef>
                <a:spcPts val="0"/>
              </a:spcBef>
              <a:spcAft>
                <a:spcPts val="0"/>
              </a:spcAft>
              <a:buNone/>
            </a:pPr>
            <a:r>
              <a:rPr lang="en"/>
              <a:t>        </a:t>
            </a:r>
            <a:endParaRPr/>
          </a:p>
          <a:p>
            <a:pPr indent="0" lvl="0" marL="0">
              <a:spcBef>
                <a:spcPts val="0"/>
              </a:spcBef>
              <a:spcAft>
                <a:spcPts val="0"/>
              </a:spcAft>
              <a:buNone/>
            </a:pPr>
            <a:r>
              <a:rPr lang="en"/>
              <a:t>def show(x):</a:t>
            </a:r>
            <a:endParaRPr/>
          </a:p>
          <a:p>
            <a:pPr indent="0" lvl="0" marL="0">
              <a:spcBef>
                <a:spcPts val="0"/>
              </a:spcBef>
              <a:spcAft>
                <a:spcPts val="0"/>
              </a:spcAft>
              <a:buNone/>
            </a:pPr>
            <a:r>
              <a:rPr lang="en"/>
              <a:t>    if x == 0:</a:t>
            </a:r>
            <a:endParaRPr/>
          </a:p>
          <a:p>
            <a:pPr indent="0" lvl="0" marL="0">
              <a:spcBef>
                <a:spcPts val="0"/>
              </a:spcBef>
              <a:spcAft>
                <a:spcPts val="0"/>
              </a:spcAft>
              <a:buNone/>
            </a:pPr>
            <a:r>
              <a:rPr lang="en"/>
              <a:t>        pin1.write_digital(1)</a:t>
            </a:r>
            <a:endParaRPr/>
          </a:p>
          <a:p>
            <a:pPr indent="0" lvl="0" marL="0">
              <a:spcBef>
                <a:spcPts val="0"/>
              </a:spcBef>
              <a:spcAft>
                <a:spcPts val="0"/>
              </a:spcAft>
              <a:buNone/>
            </a:pPr>
            <a:r>
              <a:rPr lang="en"/>
              <a:t>    elif x == 1:</a:t>
            </a:r>
            <a:endParaRPr/>
          </a:p>
          <a:p>
            <a:pPr indent="0" lvl="0" marL="0">
              <a:spcBef>
                <a:spcPts val="0"/>
              </a:spcBef>
              <a:spcAft>
                <a:spcPts val="0"/>
              </a:spcAft>
              <a:buNone/>
            </a:pPr>
            <a:r>
              <a:rPr lang="en"/>
              <a:t>        pin8.write_digital(1)</a:t>
            </a:r>
            <a:endParaRPr/>
          </a:p>
          <a:p>
            <a:pPr indent="0" lvl="0" marL="0">
              <a:spcBef>
                <a:spcPts val="0"/>
              </a:spcBef>
              <a:spcAft>
                <a:spcPts val="0"/>
              </a:spcAft>
              <a:buNone/>
            </a:pPr>
            <a:r>
              <a:rPr lang="en"/>
              <a:t>    elif x == 2:</a:t>
            </a:r>
            <a:endParaRPr/>
          </a:p>
          <a:p>
            <a:pPr indent="0" lvl="0" marL="0">
              <a:spcBef>
                <a:spcPts val="0"/>
              </a:spcBef>
              <a:spcAft>
                <a:spcPts val="0"/>
              </a:spcAft>
              <a:buNone/>
            </a:pPr>
            <a:r>
              <a:rPr lang="en"/>
              <a:t>        pin2.write_digital(1)</a:t>
            </a:r>
            <a:endParaRPr/>
          </a:p>
          <a:p>
            <a:pPr indent="0" lvl="0" marL="0">
              <a:spcBef>
                <a:spcPts val="0"/>
              </a:spcBef>
              <a:spcAft>
                <a:spcPts val="0"/>
              </a:spcAft>
              <a:buNone/>
            </a:pPr>
            <a:r>
              <a:rPr lang="en"/>
              <a:t>    sleep(500)</a:t>
            </a:r>
            <a:endParaRPr/>
          </a:p>
          <a:p>
            <a:pPr indent="0" lvl="0" marL="0">
              <a:spcBef>
                <a:spcPts val="0"/>
              </a:spcBef>
              <a:spcAft>
                <a:spcPts val="0"/>
              </a:spcAft>
              <a:buNone/>
            </a:pPr>
            <a:r>
              <a:rPr lang="en"/>
              <a:t>    pin1.write_digital(0)</a:t>
            </a:r>
            <a:endParaRPr/>
          </a:p>
          <a:p>
            <a:pPr indent="0" lvl="0" marL="0">
              <a:spcBef>
                <a:spcPts val="0"/>
              </a:spcBef>
              <a:spcAft>
                <a:spcPts val="0"/>
              </a:spcAft>
              <a:buNone/>
            </a:pPr>
            <a:r>
              <a:rPr lang="en"/>
              <a:t>    pin8.write_digital(0)</a:t>
            </a:r>
            <a:endParaRPr/>
          </a:p>
          <a:p>
            <a:pPr indent="0" lvl="0" marL="0">
              <a:spcBef>
                <a:spcPts val="0"/>
              </a:spcBef>
              <a:spcAft>
                <a:spcPts val="0"/>
              </a:spcAft>
              <a:buNone/>
            </a:pPr>
            <a:r>
              <a:rPr lang="en"/>
              <a:t>    pin2.write_digital(0)</a:t>
            </a:r>
            <a:endParaRPr/>
          </a:p>
          <a:p>
            <a:pPr indent="0" lvl="0" marL="0">
              <a:spcBef>
                <a:spcPts val="0"/>
              </a:spcBef>
              <a:spcAft>
                <a:spcPts val="0"/>
              </a:spcAft>
              <a:buNone/>
            </a:pPr>
            <a:r>
              <a:rPr lang="en"/>
              <a:t>    sleep(500)</a:t>
            </a:r>
            <a:endParaRPr/>
          </a:p>
          <a:p>
            <a:pPr indent="0" lvl="0" marL="0">
              <a:spcBef>
                <a:spcPts val="0"/>
              </a:spcBef>
              <a:spcAft>
                <a:spcPts val="0"/>
              </a:spcAft>
              <a:buNone/>
            </a:pPr>
            <a:r>
              <a:t/>
            </a:r>
            <a:endParaRPr/>
          </a:p>
          <a:p>
            <a:pPr indent="0" lvl="0" marL="0">
              <a:spcBef>
                <a:spcPts val="0"/>
              </a:spcBef>
              <a:spcAft>
                <a:spcPts val="0"/>
              </a:spcAft>
              <a:buNone/>
            </a:pPr>
            <a:r>
              <a:rPr lang="en"/>
              <a:t>failed = False        </a:t>
            </a:r>
            <a:endParaRPr/>
          </a:p>
          <a:p>
            <a:pPr indent="0" lvl="0" marL="0">
              <a:spcBef>
                <a:spcPts val="0"/>
              </a:spcBef>
              <a:spcAft>
                <a:spcPts val="0"/>
              </a:spcAft>
              <a:buNone/>
            </a:pPr>
            <a:r>
              <a:rPr lang="en"/>
              <a:t>while not failed:</a:t>
            </a:r>
            <a:endParaRPr/>
          </a:p>
          <a:p>
            <a:pPr indent="0" lvl="0" marL="0">
              <a:spcBef>
                <a:spcPts val="0"/>
              </a:spcBef>
              <a:spcAft>
                <a:spcPts val="0"/>
              </a:spcAft>
              <a:buNone/>
            </a:pPr>
            <a:r>
              <a:rPr lang="en"/>
              <a:t>    arr.append(randint(0,2))</a:t>
            </a:r>
            <a:endParaRPr/>
          </a:p>
          <a:p>
            <a:pPr indent="0" lvl="0" marL="0">
              <a:spcBef>
                <a:spcPts val="0"/>
              </a:spcBef>
              <a:spcAft>
                <a:spcPts val="0"/>
              </a:spcAft>
              <a:buNone/>
            </a:pPr>
            <a:r>
              <a:rPr lang="en"/>
              <a:t>    for i in arr:</a:t>
            </a:r>
            <a:endParaRPr/>
          </a:p>
          <a:p>
            <a:pPr indent="0" lvl="0" marL="0">
              <a:spcBef>
                <a:spcPts val="0"/>
              </a:spcBef>
              <a:spcAft>
                <a:spcPts val="0"/>
              </a:spcAft>
              <a:buNone/>
            </a:pPr>
            <a:r>
              <a:rPr lang="en"/>
              <a:t>        show(i)</a:t>
            </a:r>
            <a:endParaRPr/>
          </a:p>
          <a:p>
            <a:pPr indent="0" lvl="0" marL="0">
              <a:spcBef>
                <a:spcPts val="0"/>
              </a:spcBef>
              <a:spcAft>
                <a:spcPts val="0"/>
              </a:spcAft>
              <a:buNone/>
            </a:pPr>
            <a:r>
              <a:rPr lang="en"/>
              <a:t>    for i in arr:</a:t>
            </a:r>
            <a:endParaRPr/>
          </a:p>
          <a:p>
            <a:pPr indent="0" lvl="0" marL="0">
              <a:spcBef>
                <a:spcPts val="0"/>
              </a:spcBef>
              <a:spcAft>
                <a:spcPts val="0"/>
              </a:spcAft>
              <a:buNone/>
            </a:pPr>
            <a:r>
              <a:rPr lang="en"/>
              <a:t>        cin = 3</a:t>
            </a:r>
            <a:endParaRPr/>
          </a:p>
          <a:p>
            <a:pPr indent="0" lvl="0" marL="0">
              <a:spcBef>
                <a:spcPts val="0"/>
              </a:spcBef>
              <a:spcAft>
                <a:spcPts val="0"/>
              </a:spcAft>
              <a:buNone/>
            </a:pPr>
            <a:r>
              <a:rPr lang="en"/>
              <a:t>        while cin== 3:</a:t>
            </a:r>
            <a:endParaRPr/>
          </a:p>
          <a:p>
            <a:pPr indent="0" lvl="0" marL="0">
              <a:spcBef>
                <a:spcPts val="0"/>
              </a:spcBef>
              <a:spcAft>
                <a:spcPts val="0"/>
              </a:spcAft>
              <a:buNone/>
            </a:pPr>
            <a:r>
              <a:rPr lang="en"/>
              <a:t>            cin = read()</a:t>
            </a:r>
            <a:endParaRPr/>
          </a:p>
          <a:p>
            <a:pPr indent="0" lvl="0" marL="0">
              <a:spcBef>
                <a:spcPts val="0"/>
              </a:spcBef>
              <a:spcAft>
                <a:spcPts val="0"/>
              </a:spcAft>
              <a:buNone/>
            </a:pPr>
            <a:r>
              <a:rPr lang="en"/>
              <a:t>            show(cin)</a:t>
            </a:r>
            <a:endParaRPr/>
          </a:p>
          <a:p>
            <a:pPr indent="0" lvl="0" marL="0">
              <a:spcBef>
                <a:spcPts val="0"/>
              </a:spcBef>
              <a:spcAft>
                <a:spcPts val="0"/>
              </a:spcAft>
              <a:buNone/>
            </a:pPr>
            <a:r>
              <a:rPr lang="en"/>
              <a:t>            sleep(100)</a:t>
            </a:r>
            <a:endParaRPr/>
          </a:p>
          <a:p>
            <a:pPr indent="0" lvl="0" marL="0">
              <a:spcBef>
                <a:spcPts val="0"/>
              </a:spcBef>
              <a:spcAft>
                <a:spcPts val="0"/>
              </a:spcAft>
              <a:buNone/>
            </a:pPr>
            <a:r>
              <a:rPr lang="en"/>
              <a:t>        if cin != i:</a:t>
            </a:r>
            <a:endParaRPr/>
          </a:p>
          <a:p>
            <a:pPr indent="0" lvl="0" marL="0">
              <a:spcBef>
                <a:spcPts val="0"/>
              </a:spcBef>
              <a:spcAft>
                <a:spcPts val="0"/>
              </a:spcAft>
              <a:buNone/>
            </a:pPr>
            <a:r>
              <a:rPr lang="en"/>
              <a:t>            failed = True</a:t>
            </a:r>
            <a:endParaRPr/>
          </a:p>
          <a:p>
            <a:pPr indent="0" lvl="0" marL="0">
              <a:spcBef>
                <a:spcPts val="0"/>
              </a:spcBef>
              <a:spcAft>
                <a:spcPts val="0"/>
              </a:spcAft>
              <a:buNone/>
            </a:pPr>
            <a:r>
              <a:rPr lang="en"/>
              <a:t>            pin3.write_analog(500)</a:t>
            </a:r>
            <a:endParaRPr/>
          </a:p>
          <a:p>
            <a:pPr indent="0" lvl="0" marL="0">
              <a:spcBef>
                <a:spcPts val="0"/>
              </a:spcBef>
              <a:spcAft>
                <a:spcPts val="0"/>
              </a:spcAft>
              <a:buNone/>
            </a:pPr>
            <a:r>
              <a:rPr lang="en"/>
              <a:t>            display.show(str(len(arr)))</a:t>
            </a:r>
            <a:endParaRPr/>
          </a:p>
          <a:p>
            <a:pPr indent="0" lvl="0" marL="0">
              <a:spcBef>
                <a:spcPts val="0"/>
              </a:spcBef>
              <a:spcAft>
                <a:spcPts val="0"/>
              </a:spcAft>
              <a:buNone/>
            </a:pPr>
            <a:r>
              <a:rPr lang="en"/>
              <a:t>            break</a:t>
            </a:r>
            <a:endParaRPr/>
          </a:p>
          <a:p>
            <a:pPr indent="0" lvl="0" marL="0">
              <a:spcBef>
                <a:spcPts val="0"/>
              </a:spcBef>
              <a:spcAft>
                <a:spcPts val="0"/>
              </a:spcAft>
              <a:buNone/>
            </a:pPr>
            <a:r>
              <a:rPr lang="en"/>
              <a:t>    sleep(2000)</a:t>
            </a:r>
            <a:endParaRPr/>
          </a:p>
          <a:p>
            <a:pPr indent="0" lvl="0" marL="0">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8" name="Shape 258"/>
        <p:cNvGrpSpPr/>
        <p:nvPr/>
      </p:nvGrpSpPr>
      <p:grpSpPr>
        <a:xfrm>
          <a:off x="0" y="0"/>
          <a:ext cx="0" cy="0"/>
          <a:chOff x="0" y="0"/>
          <a:chExt cx="0" cy="0"/>
        </a:xfrm>
      </p:grpSpPr>
      <p:sp>
        <p:nvSpPr>
          <p:cNvPr id="259" name="Shape 25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60" name="Shape 26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4" name="Shape 264"/>
        <p:cNvGrpSpPr/>
        <p:nvPr/>
      </p:nvGrpSpPr>
      <p:grpSpPr>
        <a:xfrm>
          <a:off x="0" y="0"/>
          <a:ext cx="0" cy="0"/>
          <a:chOff x="0" y="0"/>
          <a:chExt cx="0" cy="0"/>
        </a:xfrm>
      </p:grpSpPr>
      <p:sp>
        <p:nvSpPr>
          <p:cNvPr id="265" name="Shape 26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66" name="Shape 266"/>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0" name="Shape 270"/>
        <p:cNvGrpSpPr/>
        <p:nvPr/>
      </p:nvGrpSpPr>
      <p:grpSpPr>
        <a:xfrm>
          <a:off x="0" y="0"/>
          <a:ext cx="0" cy="0"/>
          <a:chOff x="0" y="0"/>
          <a:chExt cx="0" cy="0"/>
        </a:xfrm>
      </p:grpSpPr>
      <p:sp>
        <p:nvSpPr>
          <p:cNvPr id="271" name="Shape 27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72" name="Shape 27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6" name="Shape 276"/>
        <p:cNvGrpSpPr/>
        <p:nvPr/>
      </p:nvGrpSpPr>
      <p:grpSpPr>
        <a:xfrm>
          <a:off x="0" y="0"/>
          <a:ext cx="0" cy="0"/>
          <a:chOff x="0" y="0"/>
          <a:chExt cx="0" cy="0"/>
        </a:xfrm>
      </p:grpSpPr>
      <p:sp>
        <p:nvSpPr>
          <p:cNvPr id="277" name="Shape 27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78" name="Shape 278"/>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2" name="Shape 282"/>
        <p:cNvGrpSpPr/>
        <p:nvPr/>
      </p:nvGrpSpPr>
      <p:grpSpPr>
        <a:xfrm>
          <a:off x="0" y="0"/>
          <a:ext cx="0" cy="0"/>
          <a:chOff x="0" y="0"/>
          <a:chExt cx="0" cy="0"/>
        </a:xfrm>
      </p:grpSpPr>
      <p:sp>
        <p:nvSpPr>
          <p:cNvPr id="283" name="Shape 28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84" name="Shape 28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
  <p:cSld name="Title slide">
    <p:spTree>
      <p:nvGrpSpPr>
        <p:cNvPr id="9" name="Shape 9"/>
        <p:cNvGrpSpPr/>
        <p:nvPr/>
      </p:nvGrpSpPr>
      <p:grpSpPr>
        <a:xfrm>
          <a:off x="0" y="0"/>
          <a:ext cx="0" cy="0"/>
          <a:chOff x="0" y="0"/>
          <a:chExt cx="0" cy="0"/>
        </a:xfrm>
      </p:grpSpPr>
      <p:grpSp>
        <p:nvGrpSpPr>
          <p:cNvPr id="10" name="Shape 10"/>
          <p:cNvGrpSpPr/>
          <p:nvPr/>
        </p:nvGrpSpPr>
        <p:grpSpPr>
          <a:xfrm>
            <a:off x="4350279" y="2855377"/>
            <a:ext cx="443589" cy="105632"/>
            <a:chOff x="4137525" y="2915950"/>
            <a:chExt cx="869100" cy="207000"/>
          </a:xfrm>
        </p:grpSpPr>
        <p:sp>
          <p:nvSpPr>
            <p:cNvPr id="11" name="Shape 11"/>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12" name="Shape 1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13" name="Shape 13"/>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grpSp>
      <p:sp>
        <p:nvSpPr>
          <p:cNvPr id="14" name="Shape 14"/>
          <p:cNvSpPr txBox="1"/>
          <p:nvPr>
            <p:ph type="ctrTitle"/>
          </p:nvPr>
        </p:nvSpPr>
        <p:spPr>
          <a:xfrm>
            <a:off x="671258" y="990800"/>
            <a:ext cx="7801500" cy="1730100"/>
          </a:xfrm>
          <a:prstGeom prst="rect">
            <a:avLst/>
          </a:prstGeom>
        </p:spPr>
        <p:txBody>
          <a:bodyPr anchorCtr="0" anchor="b" bIns="91425" lIns="91425" spcFirstLastPara="1" rIns="91425" wrap="square" tIns="91425"/>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Shape 15"/>
          <p:cNvSpPr txBox="1"/>
          <p:nvPr>
            <p:ph idx="1" type="subTitle"/>
          </p:nvPr>
        </p:nvSpPr>
        <p:spPr>
          <a:xfrm>
            <a:off x="671250" y="3174876"/>
            <a:ext cx="78015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Shape 1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secHead">
  <p:cSld name="Section header">
    <p:spTree>
      <p:nvGrpSpPr>
        <p:cNvPr id="17" name="Shape 17"/>
        <p:cNvGrpSpPr/>
        <p:nvPr/>
      </p:nvGrpSpPr>
      <p:grpSpPr>
        <a:xfrm>
          <a:off x="0" y="0"/>
          <a:ext cx="0" cy="0"/>
          <a:chOff x="0" y="0"/>
          <a:chExt cx="0" cy="0"/>
        </a:xfrm>
      </p:grpSpPr>
      <p:sp>
        <p:nvSpPr>
          <p:cNvPr id="18" name="Shape 18"/>
          <p:cNvSpPr txBox="1"/>
          <p:nvPr>
            <p:ph type="title"/>
          </p:nvPr>
        </p:nvSpPr>
        <p:spPr>
          <a:xfrm>
            <a:off x="671250" y="2141250"/>
            <a:ext cx="7852200" cy="8610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Shape 1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x">
  <p:cSld name="Title and body">
    <p:spTree>
      <p:nvGrpSpPr>
        <p:cNvPr id="20" name="Shape 20"/>
        <p:cNvGrpSpPr/>
        <p:nvPr/>
      </p:nvGrpSpPr>
      <p:grpSpPr>
        <a:xfrm>
          <a:off x="0" y="0"/>
          <a:ext cx="0" cy="0"/>
          <a:chOff x="0" y="0"/>
          <a:chExt cx="0" cy="0"/>
        </a:xfrm>
      </p:grpSpPr>
      <p:sp>
        <p:nvSpPr>
          <p:cNvPr id="21" name="Shape 21"/>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Shape 22"/>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Shape 2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woColTx">
  <p:cSld name="Title and two columns">
    <p:spTree>
      <p:nvGrpSpPr>
        <p:cNvPr id="24" name="Shape 24"/>
        <p:cNvGrpSpPr/>
        <p:nvPr/>
      </p:nvGrpSpPr>
      <p:grpSpPr>
        <a:xfrm>
          <a:off x="0" y="0"/>
          <a:ext cx="0" cy="0"/>
          <a:chOff x="0" y="0"/>
          <a:chExt cx="0" cy="0"/>
        </a:xfrm>
      </p:grpSpPr>
      <p:sp>
        <p:nvSpPr>
          <p:cNvPr id="25" name="Shape 25"/>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Shape 26"/>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Shape 27"/>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Shape 2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Only">
  <p:cSld name="Title only">
    <p:spTree>
      <p:nvGrpSpPr>
        <p:cNvPr id="29" name="Shape 29"/>
        <p:cNvGrpSpPr/>
        <p:nvPr/>
      </p:nvGrpSpPr>
      <p:grpSpPr>
        <a:xfrm>
          <a:off x="0" y="0"/>
          <a:ext cx="0" cy="0"/>
          <a:chOff x="0" y="0"/>
          <a:chExt cx="0" cy="0"/>
        </a:xfrm>
      </p:grpSpPr>
      <p:sp>
        <p:nvSpPr>
          <p:cNvPr id="30" name="Shape 30"/>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Shape 3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One column text">
    <p:spTree>
      <p:nvGrpSpPr>
        <p:cNvPr id="32" name="Shape 32"/>
        <p:cNvGrpSpPr/>
        <p:nvPr/>
      </p:nvGrpSpPr>
      <p:grpSpPr>
        <a:xfrm>
          <a:off x="0" y="0"/>
          <a:ext cx="0" cy="0"/>
          <a:chOff x="0" y="0"/>
          <a:chExt cx="0" cy="0"/>
        </a:xfrm>
      </p:grpSpPr>
      <p:sp>
        <p:nvSpPr>
          <p:cNvPr id="33" name="Shape 33"/>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Shape 34"/>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Shape 3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Main point">
    <p:spTree>
      <p:nvGrpSpPr>
        <p:cNvPr id="36" name="Shape 36"/>
        <p:cNvGrpSpPr/>
        <p:nvPr/>
      </p:nvGrpSpPr>
      <p:grpSpPr>
        <a:xfrm>
          <a:off x="0" y="0"/>
          <a:ext cx="0" cy="0"/>
          <a:chOff x="0" y="0"/>
          <a:chExt cx="0" cy="0"/>
        </a:xfrm>
      </p:grpSpPr>
      <p:sp>
        <p:nvSpPr>
          <p:cNvPr id="37" name="Shape 37"/>
          <p:cNvSpPr txBox="1"/>
          <p:nvPr>
            <p:ph type="title"/>
          </p:nvPr>
        </p:nvSpPr>
        <p:spPr>
          <a:xfrm>
            <a:off x="490250" y="526350"/>
            <a:ext cx="6227100" cy="4090800"/>
          </a:xfrm>
          <a:prstGeom prst="rect">
            <a:avLst/>
          </a:prstGeom>
        </p:spPr>
        <p:txBody>
          <a:bodyPr anchorCtr="0" anchor="ctr" bIns="91425" lIns="91425" spcFirstLastPara="1" rIns="91425" wrap="square" tIns="91425"/>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Shape 3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spcBef>
                <a:spcPts val="0"/>
              </a:spcBef>
              <a:buNone/>
              <a:defRPr>
                <a:solidFill>
                  <a:schemeClr val="lt1"/>
                </a:solidFill>
              </a:defRPr>
            </a:lvl1pPr>
            <a:lvl2pPr lvl="1">
              <a:spcBef>
                <a:spcPts val="0"/>
              </a:spcBef>
              <a:buNone/>
              <a:defRPr>
                <a:solidFill>
                  <a:schemeClr val="lt1"/>
                </a:solidFill>
              </a:defRPr>
            </a:lvl2pPr>
            <a:lvl3pPr lvl="2">
              <a:spcBef>
                <a:spcPts val="0"/>
              </a:spcBef>
              <a:buNone/>
              <a:defRPr>
                <a:solidFill>
                  <a:schemeClr val="lt1"/>
                </a:solidFill>
              </a:defRPr>
            </a:lvl3pPr>
            <a:lvl4pPr lvl="3">
              <a:spcBef>
                <a:spcPts val="0"/>
              </a:spcBef>
              <a:buNone/>
              <a:defRPr>
                <a:solidFill>
                  <a:schemeClr val="lt1"/>
                </a:solidFill>
              </a:defRPr>
            </a:lvl4pPr>
            <a:lvl5pPr lvl="4">
              <a:spcBef>
                <a:spcPts val="0"/>
              </a:spcBef>
              <a:buNone/>
              <a:defRPr>
                <a:solidFill>
                  <a:schemeClr val="lt1"/>
                </a:solidFill>
              </a:defRPr>
            </a:lvl5pPr>
            <a:lvl6pPr lvl="5">
              <a:spcBef>
                <a:spcPts val="0"/>
              </a:spcBef>
              <a:buNone/>
              <a:defRPr>
                <a:solidFill>
                  <a:schemeClr val="lt1"/>
                </a:solidFill>
              </a:defRPr>
            </a:lvl6pPr>
            <a:lvl7pPr lvl="6">
              <a:spcBef>
                <a:spcPts val="0"/>
              </a:spcBef>
              <a:buNone/>
              <a:defRPr>
                <a:solidFill>
                  <a:schemeClr val="lt1"/>
                </a:solidFill>
              </a:defRPr>
            </a:lvl7pPr>
            <a:lvl8pPr lvl="7">
              <a:spcBef>
                <a:spcPts val="0"/>
              </a:spcBef>
              <a:buNone/>
              <a:defRPr>
                <a:solidFill>
                  <a:schemeClr val="lt1"/>
                </a:solidFill>
              </a:defRPr>
            </a:lvl8pPr>
            <a:lvl9pPr lvl="8">
              <a:spcBef>
                <a:spcPts val="0"/>
              </a:spcBef>
              <a:buNone/>
              <a:defRPr>
                <a:solidFill>
                  <a:schemeClr val="lt1"/>
                </a:solidFil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ection title and description">
    <p:spTree>
      <p:nvGrpSpPr>
        <p:cNvPr id="39" name="Shape 39"/>
        <p:cNvGrpSpPr/>
        <p:nvPr/>
      </p:nvGrpSpPr>
      <p:grpSpPr>
        <a:xfrm>
          <a:off x="0" y="0"/>
          <a:ext cx="0" cy="0"/>
          <a:chOff x="0" y="0"/>
          <a:chExt cx="0" cy="0"/>
        </a:xfrm>
      </p:grpSpPr>
      <p:sp>
        <p:nvSpPr>
          <p:cNvPr id="40" name="Shape 40"/>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cxnSp>
        <p:nvCxnSpPr>
          <p:cNvPr id="41" name="Shape 41"/>
          <p:cNvCxnSpPr/>
          <p:nvPr/>
        </p:nvCxnSpPr>
        <p:spPr>
          <a:xfrm>
            <a:off x="5029675" y="4495500"/>
            <a:ext cx="468300" cy="0"/>
          </a:xfrm>
          <a:prstGeom prst="straightConnector1">
            <a:avLst/>
          </a:prstGeom>
          <a:noFill/>
          <a:ln cap="flat" cmpd="sng" w="19050">
            <a:solidFill>
              <a:schemeClr val="lt1"/>
            </a:solidFill>
            <a:prstDash val="solid"/>
            <a:round/>
            <a:headEnd len="med" w="med" type="none"/>
            <a:tailEnd len="med" w="med" type="none"/>
          </a:ln>
        </p:spPr>
      </p:cxnSp>
      <p:sp>
        <p:nvSpPr>
          <p:cNvPr id="42" name="Shape 42"/>
          <p:cNvSpPr txBox="1"/>
          <p:nvPr>
            <p:ph type="title"/>
          </p:nvPr>
        </p:nvSpPr>
        <p:spPr>
          <a:xfrm>
            <a:off x="265500" y="1081400"/>
            <a:ext cx="4045200" cy="1710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Shape 43"/>
          <p:cNvSpPr txBox="1"/>
          <p:nvPr>
            <p:ph idx="1" type="subTitle"/>
          </p:nvPr>
        </p:nvSpPr>
        <p:spPr>
          <a:xfrm>
            <a:off x="265500" y="2845201"/>
            <a:ext cx="4045200" cy="13455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Shape 44"/>
          <p:cNvSpPr txBox="1"/>
          <p:nvPr>
            <p:ph idx="2" type="body"/>
          </p:nvPr>
        </p:nvSpPr>
        <p:spPr>
          <a:xfrm>
            <a:off x="4939500" y="724200"/>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Shape 4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spcBef>
                <a:spcPts val="0"/>
              </a:spcBef>
              <a:buNone/>
              <a:defRPr>
                <a:solidFill>
                  <a:schemeClr val="lt1"/>
                </a:solidFill>
              </a:defRPr>
            </a:lvl1pPr>
            <a:lvl2pPr lvl="1">
              <a:spcBef>
                <a:spcPts val="0"/>
              </a:spcBef>
              <a:buNone/>
              <a:defRPr>
                <a:solidFill>
                  <a:schemeClr val="lt1"/>
                </a:solidFill>
              </a:defRPr>
            </a:lvl2pPr>
            <a:lvl3pPr lvl="2">
              <a:spcBef>
                <a:spcPts val="0"/>
              </a:spcBef>
              <a:buNone/>
              <a:defRPr>
                <a:solidFill>
                  <a:schemeClr val="lt1"/>
                </a:solidFill>
              </a:defRPr>
            </a:lvl3pPr>
            <a:lvl4pPr lvl="3">
              <a:spcBef>
                <a:spcPts val="0"/>
              </a:spcBef>
              <a:buNone/>
              <a:defRPr>
                <a:solidFill>
                  <a:schemeClr val="lt1"/>
                </a:solidFill>
              </a:defRPr>
            </a:lvl4pPr>
            <a:lvl5pPr lvl="4">
              <a:spcBef>
                <a:spcPts val="0"/>
              </a:spcBef>
              <a:buNone/>
              <a:defRPr>
                <a:solidFill>
                  <a:schemeClr val="lt1"/>
                </a:solidFill>
              </a:defRPr>
            </a:lvl5pPr>
            <a:lvl6pPr lvl="5">
              <a:spcBef>
                <a:spcPts val="0"/>
              </a:spcBef>
              <a:buNone/>
              <a:defRPr>
                <a:solidFill>
                  <a:schemeClr val="lt1"/>
                </a:solidFill>
              </a:defRPr>
            </a:lvl6pPr>
            <a:lvl7pPr lvl="6">
              <a:spcBef>
                <a:spcPts val="0"/>
              </a:spcBef>
              <a:buNone/>
              <a:defRPr>
                <a:solidFill>
                  <a:schemeClr val="lt1"/>
                </a:solidFill>
              </a:defRPr>
            </a:lvl7pPr>
            <a:lvl8pPr lvl="7">
              <a:spcBef>
                <a:spcPts val="0"/>
              </a:spcBef>
              <a:buNone/>
              <a:defRPr>
                <a:solidFill>
                  <a:schemeClr val="lt1"/>
                </a:solidFill>
              </a:defRPr>
            </a:lvl8pPr>
            <a:lvl9pPr lvl="8">
              <a:spcBef>
                <a:spcPts val="0"/>
              </a:spcBef>
              <a:buNone/>
              <a:defRPr>
                <a:solidFill>
                  <a:schemeClr val="lt1"/>
                </a:solidFil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Caption">
    <p:spTree>
      <p:nvGrpSpPr>
        <p:cNvPr id="46" name="Shape 46"/>
        <p:cNvGrpSpPr/>
        <p:nvPr/>
      </p:nvGrpSpPr>
      <p:grpSpPr>
        <a:xfrm>
          <a:off x="0" y="0"/>
          <a:ext cx="0" cy="0"/>
          <a:chOff x="0" y="0"/>
          <a:chExt cx="0" cy="0"/>
        </a:xfrm>
      </p:grpSpPr>
      <p:sp>
        <p:nvSpPr>
          <p:cNvPr id="47" name="Shape 47"/>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Shape 4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Big number">
    <p:spTree>
      <p:nvGrpSpPr>
        <p:cNvPr id="49" name="Shape 49"/>
        <p:cNvGrpSpPr/>
        <p:nvPr/>
      </p:nvGrpSpPr>
      <p:grpSpPr>
        <a:xfrm>
          <a:off x="0" y="0"/>
          <a:ext cx="0" cy="0"/>
          <a:chOff x="0" y="0"/>
          <a:chExt cx="0" cy="0"/>
        </a:xfrm>
      </p:grpSpPr>
      <p:sp>
        <p:nvSpPr>
          <p:cNvPr id="50" name="Shape 50"/>
          <p:cNvSpPr txBox="1"/>
          <p:nvPr>
            <p:ph type="title"/>
          </p:nvPr>
        </p:nvSpPr>
        <p:spPr>
          <a:xfrm>
            <a:off x="311700" y="1255275"/>
            <a:ext cx="8520600" cy="18906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p:txBody>
      </p:sp>
      <p:sp>
        <p:nvSpPr>
          <p:cNvPr id="51" name="Shape 51"/>
          <p:cNvSpPr txBox="1"/>
          <p:nvPr>
            <p:ph idx="1" type="body"/>
          </p:nvPr>
        </p:nvSpPr>
        <p:spPr>
          <a:xfrm>
            <a:off x="311700" y="32284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Shape 5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blank">
  <p:cSld name="Blank">
    <p:spTree>
      <p:nvGrpSpPr>
        <p:cNvPr id="53" name="Shape 53"/>
        <p:cNvGrpSpPr/>
        <p:nvPr/>
      </p:nvGrpSpPr>
      <p:grpSpPr>
        <a:xfrm>
          <a:off x="0" y="0"/>
          <a:ext cx="0" cy="0"/>
          <a:chOff x="0" y="0"/>
          <a:chExt cx="0" cy="0"/>
        </a:xfrm>
      </p:grpSpPr>
      <p:sp>
        <p:nvSpPr>
          <p:cNvPr id="54" name="Shape 5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late">
    <p:bg>
      <p:bgPr>
        <a:solidFill>
          <a:srgbClr val="000000"/>
        </a:solidFill>
      </p:bgPr>
    </p:bg>
    <p:spTree>
      <p:nvGrpSpPr>
        <p:cNvPr id="5" name="Shape 5"/>
        <p:cNvGrpSpPr/>
        <p:nvPr/>
      </p:nvGrpSpPr>
      <p:grpSpPr>
        <a:xfrm>
          <a:off x="0" y="0"/>
          <a:ext cx="0" cy="0"/>
          <a:chOff x="0" y="0"/>
          <a:chExt cx="0" cy="0"/>
        </a:xfrm>
      </p:grpSpPr>
      <p:sp>
        <p:nvSpPr>
          <p:cNvPr id="6" name="Shape 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Shape 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Shape 8"/>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spcBef>
                <a:spcPts val="0"/>
              </a:spcBef>
              <a:buNone/>
              <a:defRPr sz="1000">
                <a:solidFill>
                  <a:schemeClr val="accent3"/>
                </a:solidFill>
                <a:latin typeface="Average"/>
                <a:ea typeface="Average"/>
                <a:cs typeface="Average"/>
                <a:sym typeface="Average"/>
              </a:defRPr>
            </a:lvl1pPr>
            <a:lvl2pPr lvl="1" algn="r">
              <a:spcBef>
                <a:spcPts val="0"/>
              </a:spcBef>
              <a:buNone/>
              <a:defRPr sz="1000">
                <a:solidFill>
                  <a:schemeClr val="accent3"/>
                </a:solidFill>
                <a:latin typeface="Average"/>
                <a:ea typeface="Average"/>
                <a:cs typeface="Average"/>
                <a:sym typeface="Average"/>
              </a:defRPr>
            </a:lvl2pPr>
            <a:lvl3pPr lvl="2" algn="r">
              <a:spcBef>
                <a:spcPts val="0"/>
              </a:spcBef>
              <a:buNone/>
              <a:defRPr sz="1000">
                <a:solidFill>
                  <a:schemeClr val="accent3"/>
                </a:solidFill>
                <a:latin typeface="Average"/>
                <a:ea typeface="Average"/>
                <a:cs typeface="Average"/>
                <a:sym typeface="Average"/>
              </a:defRPr>
            </a:lvl3pPr>
            <a:lvl4pPr lvl="3" algn="r">
              <a:spcBef>
                <a:spcPts val="0"/>
              </a:spcBef>
              <a:buNone/>
              <a:defRPr sz="1000">
                <a:solidFill>
                  <a:schemeClr val="accent3"/>
                </a:solidFill>
                <a:latin typeface="Average"/>
                <a:ea typeface="Average"/>
                <a:cs typeface="Average"/>
                <a:sym typeface="Average"/>
              </a:defRPr>
            </a:lvl4pPr>
            <a:lvl5pPr lvl="4" algn="r">
              <a:spcBef>
                <a:spcPts val="0"/>
              </a:spcBef>
              <a:buNone/>
              <a:defRPr sz="1000">
                <a:solidFill>
                  <a:schemeClr val="accent3"/>
                </a:solidFill>
                <a:latin typeface="Average"/>
                <a:ea typeface="Average"/>
                <a:cs typeface="Average"/>
                <a:sym typeface="Average"/>
              </a:defRPr>
            </a:lvl5pPr>
            <a:lvl6pPr lvl="5" algn="r">
              <a:spcBef>
                <a:spcPts val="0"/>
              </a:spcBef>
              <a:buNone/>
              <a:defRPr sz="1000">
                <a:solidFill>
                  <a:schemeClr val="accent3"/>
                </a:solidFill>
                <a:latin typeface="Average"/>
                <a:ea typeface="Average"/>
                <a:cs typeface="Average"/>
                <a:sym typeface="Average"/>
              </a:defRPr>
            </a:lvl6pPr>
            <a:lvl7pPr lvl="6" algn="r">
              <a:spcBef>
                <a:spcPts val="0"/>
              </a:spcBef>
              <a:buNone/>
              <a:defRPr sz="1000">
                <a:solidFill>
                  <a:schemeClr val="accent3"/>
                </a:solidFill>
                <a:latin typeface="Average"/>
                <a:ea typeface="Average"/>
                <a:cs typeface="Average"/>
                <a:sym typeface="Average"/>
              </a:defRPr>
            </a:lvl7pPr>
            <a:lvl8pPr lvl="7" algn="r">
              <a:spcBef>
                <a:spcPts val="0"/>
              </a:spcBef>
              <a:buNone/>
              <a:defRPr sz="1000">
                <a:solidFill>
                  <a:schemeClr val="accent3"/>
                </a:solidFill>
                <a:latin typeface="Average"/>
                <a:ea typeface="Average"/>
                <a:cs typeface="Average"/>
                <a:sym typeface="Average"/>
              </a:defRPr>
            </a:lvl8pPr>
            <a:lvl9pPr lvl="8" algn="r">
              <a:spcBef>
                <a:spcPts val="0"/>
              </a:spcBef>
              <a:buNone/>
              <a:defRPr sz="1000">
                <a:solidFill>
                  <a:schemeClr val="accent3"/>
                </a:solidFill>
                <a:latin typeface="Average"/>
                <a:ea typeface="Average"/>
                <a:cs typeface="Average"/>
                <a:sym typeface="Average"/>
              </a:defRPr>
            </a:lvl9pPr>
          </a:lstStyle>
          <a:p>
            <a:pPr indent="0" lvl="0" marL="0">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2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bbc.com/news/technology-35824446" TargetMode="External"/><Relationship Id="rId4" Type="http://schemas.openxmlformats.org/officeDocument/2006/relationships/hyperlink" Target="https://shop.pimoroni.com/collections/micro-bit-uk"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youtube.com/watch?v=zyyV01FM0Hg" TargetMode="Externa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hyperlink" Target="https://microbit.org/code/" TargetMode="External"/><Relationship Id="rId5" Type="http://schemas.openxmlformats.org/officeDocument/2006/relationships/hyperlink" Target="http://microbit-micropython.readthedocs.i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3.png"/><Relationship Id="rId7"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groklearning.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mailto:gi.soongchee@dhs.s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8" name="Shape 58"/>
        <p:cNvGrpSpPr/>
        <p:nvPr/>
      </p:nvGrpSpPr>
      <p:grpSpPr>
        <a:xfrm>
          <a:off x="0" y="0"/>
          <a:ext cx="0" cy="0"/>
          <a:chOff x="0" y="0"/>
          <a:chExt cx="0" cy="0"/>
        </a:xfrm>
      </p:grpSpPr>
      <p:sp>
        <p:nvSpPr>
          <p:cNvPr id="59" name="Shape 59"/>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p>
            <a:pPr indent="0" lvl="0" marL="0">
              <a:spcBef>
                <a:spcPts val="0"/>
              </a:spcBef>
              <a:spcAft>
                <a:spcPts val="0"/>
              </a:spcAft>
              <a:buNone/>
            </a:pPr>
            <a:r>
              <a:rPr lang="en" sz="3600"/>
              <a:t>An introduction to the BBC </a:t>
            </a:r>
            <a:r>
              <a:rPr lang="en" sz="3600">
                <a:solidFill>
                  <a:srgbClr val="FF0000"/>
                </a:solidFill>
              </a:rPr>
              <a:t>M</a:t>
            </a:r>
            <a:r>
              <a:rPr lang="en" sz="3600">
                <a:solidFill>
                  <a:srgbClr val="FF9900"/>
                </a:solidFill>
              </a:rPr>
              <a:t>i</a:t>
            </a:r>
            <a:r>
              <a:rPr lang="en" sz="3600">
                <a:solidFill>
                  <a:srgbClr val="00FF00"/>
                </a:solidFill>
              </a:rPr>
              <a:t>c</a:t>
            </a:r>
            <a:r>
              <a:rPr lang="en" sz="3600">
                <a:solidFill>
                  <a:srgbClr val="00FFFF"/>
                </a:solidFill>
              </a:rPr>
              <a:t>r</a:t>
            </a:r>
            <a:r>
              <a:rPr lang="en" sz="3600">
                <a:solidFill>
                  <a:srgbClr val="4A86E8"/>
                </a:solidFill>
              </a:rPr>
              <a:t>o:</a:t>
            </a:r>
            <a:r>
              <a:rPr lang="en" sz="3600">
                <a:solidFill>
                  <a:srgbClr val="0000FF"/>
                </a:solidFill>
              </a:rPr>
              <a:t>b</a:t>
            </a:r>
            <a:r>
              <a:rPr lang="en" sz="3600">
                <a:solidFill>
                  <a:srgbClr val="9900FF"/>
                </a:solidFill>
              </a:rPr>
              <a:t>i</a:t>
            </a:r>
            <a:r>
              <a:rPr lang="en" sz="3600">
                <a:solidFill>
                  <a:srgbClr val="FF00FF"/>
                </a:solidFill>
              </a:rPr>
              <a:t>t</a:t>
            </a:r>
            <a:endParaRPr sz="3600">
              <a:solidFill>
                <a:srgbClr val="FF00FF"/>
              </a:solidFill>
            </a:endParaRPr>
          </a:p>
        </p:txBody>
      </p:sp>
      <p:sp>
        <p:nvSpPr>
          <p:cNvPr id="60" name="Shape 60"/>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DHS SHICC</a:t>
            </a:r>
            <a:endParaRPr/>
          </a:p>
          <a:p>
            <a:pPr indent="0" lvl="0" marL="0">
              <a:spcBef>
                <a:spcPts val="0"/>
              </a:spcBef>
              <a:spcAft>
                <a:spcPts val="0"/>
              </a:spcAft>
              <a:buNone/>
            </a:pPr>
            <a:r>
              <a:rPr lang="en"/>
              <a:t>Link to slides: </a:t>
            </a:r>
            <a:r>
              <a:rPr lang="en" u="sng">
                <a:solidFill>
                  <a:schemeClr val="accent5"/>
                </a:solidFill>
              </a:rPr>
              <a:t>tinyurl.com/DHSmicrobit</a:t>
            </a:r>
            <a:endParaRPr u="sng">
              <a:solidFill>
                <a:schemeClr val="accent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
                                        </p:tgtEl>
                                        <p:attrNameLst>
                                          <p:attrName>style.visibility</p:attrName>
                                        </p:attrNameLst>
                                      </p:cBhvr>
                                      <p:to>
                                        <p:strVal val="visible"/>
                                      </p:to>
                                    </p:set>
                                    <p:animEffect filter="fade" transition="in">
                                      <p:cBhvr>
                                        <p:cTn dur="1000"/>
                                        <p:tgtEl>
                                          <p:spTgt spid="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4" name="Shape 64"/>
        <p:cNvGrpSpPr/>
        <p:nvPr/>
      </p:nvGrpSpPr>
      <p:grpSpPr>
        <a:xfrm>
          <a:off x="0" y="0"/>
          <a:ext cx="0" cy="0"/>
          <a:chOff x="0" y="0"/>
          <a:chExt cx="0" cy="0"/>
        </a:xfrm>
      </p:grpSpPr>
      <p:sp>
        <p:nvSpPr>
          <p:cNvPr id="65" name="Shape 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Inventor’s Kit</a:t>
            </a:r>
            <a:endParaRPr/>
          </a:p>
        </p:txBody>
      </p:sp>
      <p:sp>
        <p:nvSpPr>
          <p:cNvPr id="66" name="Shape 6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1600"/>
              </a:spcAft>
              <a:buNone/>
            </a:pPr>
            <a:r>
              <a:t/>
            </a:r>
            <a:endParaRPr/>
          </a:p>
        </p:txBody>
      </p:sp>
      <p:pic>
        <p:nvPicPr>
          <p:cNvPr id="67" name="Shape 67"/>
          <p:cNvPicPr preferRelativeResize="0"/>
          <p:nvPr/>
        </p:nvPicPr>
        <p:blipFill>
          <a:blip r:embed="rId3">
            <a:alphaModFix/>
          </a:blip>
          <a:stretch>
            <a:fillRect/>
          </a:stretch>
        </p:blipFill>
        <p:spPr>
          <a:xfrm>
            <a:off x="5381026" y="915013"/>
            <a:ext cx="3451276" cy="3891325"/>
          </a:xfrm>
          <a:prstGeom prst="rect">
            <a:avLst/>
          </a:prstGeom>
          <a:noFill/>
          <a:ln>
            <a:noFill/>
          </a:ln>
        </p:spPr>
      </p:pic>
      <p:pic>
        <p:nvPicPr>
          <p:cNvPr id="68" name="Shape 68"/>
          <p:cNvPicPr preferRelativeResize="0"/>
          <p:nvPr/>
        </p:nvPicPr>
        <p:blipFill>
          <a:blip r:embed="rId4">
            <a:alphaModFix/>
          </a:blip>
          <a:stretch>
            <a:fillRect/>
          </a:stretch>
        </p:blipFill>
        <p:spPr>
          <a:xfrm>
            <a:off x="606725" y="973275"/>
            <a:ext cx="4336625" cy="3774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2" name="Shape 72"/>
        <p:cNvGrpSpPr/>
        <p:nvPr/>
      </p:nvGrpSpPr>
      <p:grpSpPr>
        <a:xfrm>
          <a:off x="0" y="0"/>
          <a:ext cx="0" cy="0"/>
          <a:chOff x="0" y="0"/>
          <a:chExt cx="0" cy="0"/>
        </a:xfrm>
      </p:grpSpPr>
      <p:sp>
        <p:nvSpPr>
          <p:cNvPr id="73" name="Shape 7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What is the BBC Microbit?</a:t>
            </a:r>
            <a:endParaRPr/>
          </a:p>
        </p:txBody>
      </p:sp>
      <p:sp>
        <p:nvSpPr>
          <p:cNvPr id="74" name="Shape 7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nSpc>
                <a:spcPct val="100000"/>
              </a:lnSpc>
              <a:spcBef>
                <a:spcPts val="0"/>
              </a:spcBef>
              <a:spcAft>
                <a:spcPts val="0"/>
              </a:spcAft>
              <a:buClr>
                <a:srgbClr val="FFFFFF"/>
              </a:buClr>
              <a:buSzPts val="1800"/>
              <a:buChar char="●"/>
            </a:pPr>
            <a:r>
              <a:rPr lang="en">
                <a:solidFill>
                  <a:srgbClr val="FFFFFF"/>
                </a:solidFill>
              </a:rPr>
              <a:t>Pocket size codable computer</a:t>
            </a:r>
            <a:endParaRPr>
              <a:solidFill>
                <a:srgbClr val="FFFFFF"/>
              </a:solidFill>
            </a:endParaRPr>
          </a:p>
          <a:p>
            <a:pPr indent="-317500" lvl="1" marL="914400" rtl="0">
              <a:lnSpc>
                <a:spcPct val="100000"/>
              </a:lnSpc>
              <a:spcBef>
                <a:spcPts val="0"/>
              </a:spcBef>
              <a:spcAft>
                <a:spcPts val="0"/>
              </a:spcAft>
              <a:buClr>
                <a:srgbClr val="FFFFFF"/>
              </a:buClr>
              <a:buSzPts val="1400"/>
              <a:buChar char="○"/>
            </a:pPr>
            <a:r>
              <a:rPr lang="en">
                <a:solidFill>
                  <a:srgbClr val="FFFFFF"/>
                </a:solidFill>
              </a:rPr>
              <a:t>Motion detection</a:t>
            </a:r>
            <a:endParaRPr>
              <a:solidFill>
                <a:srgbClr val="FFFFFF"/>
              </a:solidFill>
            </a:endParaRPr>
          </a:p>
          <a:p>
            <a:pPr indent="-317500" lvl="1" marL="914400" rtl="0">
              <a:lnSpc>
                <a:spcPct val="100000"/>
              </a:lnSpc>
              <a:spcBef>
                <a:spcPts val="0"/>
              </a:spcBef>
              <a:spcAft>
                <a:spcPts val="0"/>
              </a:spcAft>
              <a:buClr>
                <a:srgbClr val="FFFFFF"/>
              </a:buClr>
              <a:buSzPts val="1400"/>
              <a:buChar char="○"/>
            </a:pPr>
            <a:r>
              <a:rPr lang="en">
                <a:solidFill>
                  <a:srgbClr val="FFFFFF"/>
                </a:solidFill>
              </a:rPr>
              <a:t>Built-in compass</a:t>
            </a:r>
            <a:endParaRPr>
              <a:solidFill>
                <a:srgbClr val="FFFFFF"/>
              </a:solidFill>
            </a:endParaRPr>
          </a:p>
          <a:p>
            <a:pPr indent="-317500" lvl="1" marL="914400" rtl="0">
              <a:lnSpc>
                <a:spcPct val="100000"/>
              </a:lnSpc>
              <a:spcBef>
                <a:spcPts val="0"/>
              </a:spcBef>
              <a:spcAft>
                <a:spcPts val="0"/>
              </a:spcAft>
              <a:buClr>
                <a:srgbClr val="FFFFFF"/>
              </a:buClr>
              <a:buSzPts val="1400"/>
              <a:buChar char="○"/>
            </a:pPr>
            <a:r>
              <a:rPr lang="en">
                <a:solidFill>
                  <a:srgbClr val="FFFFFF"/>
                </a:solidFill>
              </a:rPr>
              <a:t>Bluetooth connection</a:t>
            </a:r>
            <a:endParaRPr>
              <a:solidFill>
                <a:srgbClr val="FFFFFF"/>
              </a:solidFill>
            </a:endParaRPr>
          </a:p>
          <a:p>
            <a:pPr indent="0" lvl="0" marL="0" rtl="0">
              <a:lnSpc>
                <a:spcPct val="100000"/>
              </a:lnSpc>
              <a:spcBef>
                <a:spcPts val="1600"/>
              </a:spcBef>
              <a:spcAft>
                <a:spcPts val="0"/>
              </a:spcAft>
              <a:buNone/>
            </a:pPr>
            <a:r>
              <a:t/>
            </a:r>
            <a:endParaRPr>
              <a:solidFill>
                <a:srgbClr val="FFFFFF"/>
              </a:solidFill>
            </a:endParaRPr>
          </a:p>
          <a:p>
            <a:pPr indent="-381000" lvl="0" marL="457200" rtl="0">
              <a:lnSpc>
                <a:spcPct val="100000"/>
              </a:lnSpc>
              <a:spcBef>
                <a:spcPts val="1600"/>
              </a:spcBef>
              <a:spcAft>
                <a:spcPts val="0"/>
              </a:spcAft>
              <a:buClr>
                <a:srgbClr val="FFFFFF"/>
              </a:buClr>
              <a:buSzPts val="2400"/>
              <a:buChar char="●"/>
            </a:pPr>
            <a:r>
              <a:rPr lang="en" sz="2400">
                <a:solidFill>
                  <a:srgbClr val="FFFFFF"/>
                </a:solidFill>
              </a:rPr>
              <a:t>Aim: inspire young people to get </a:t>
            </a:r>
            <a:r>
              <a:rPr lang="en" sz="2400">
                <a:solidFill>
                  <a:srgbClr val="FF0000"/>
                </a:solidFill>
              </a:rPr>
              <a:t>c</a:t>
            </a:r>
            <a:r>
              <a:rPr lang="en" sz="2400">
                <a:solidFill>
                  <a:srgbClr val="FF9900"/>
                </a:solidFill>
              </a:rPr>
              <a:t>r</a:t>
            </a:r>
            <a:r>
              <a:rPr lang="en" sz="2400">
                <a:solidFill>
                  <a:srgbClr val="FFFF00"/>
                </a:solidFill>
              </a:rPr>
              <a:t>e</a:t>
            </a:r>
            <a:r>
              <a:rPr lang="en" sz="2400">
                <a:solidFill>
                  <a:srgbClr val="00FF00"/>
                </a:solidFill>
              </a:rPr>
              <a:t>a</a:t>
            </a:r>
            <a:r>
              <a:rPr lang="en" sz="2400">
                <a:solidFill>
                  <a:srgbClr val="00FFFF"/>
                </a:solidFill>
              </a:rPr>
              <a:t>t</a:t>
            </a:r>
            <a:r>
              <a:rPr lang="en" sz="2400">
                <a:solidFill>
                  <a:srgbClr val="4A86E8"/>
                </a:solidFill>
              </a:rPr>
              <a:t>i</a:t>
            </a:r>
            <a:r>
              <a:rPr lang="en" sz="2400">
                <a:solidFill>
                  <a:srgbClr val="0000FF"/>
                </a:solidFill>
              </a:rPr>
              <a:t>v</a:t>
            </a:r>
            <a:r>
              <a:rPr lang="en" sz="2400">
                <a:solidFill>
                  <a:srgbClr val="FF00FF"/>
                </a:solidFill>
              </a:rPr>
              <a:t>e </a:t>
            </a:r>
            <a:r>
              <a:rPr lang="en" sz="2400">
                <a:solidFill>
                  <a:srgbClr val="FFFFFF"/>
                </a:solidFill>
              </a:rPr>
              <a:t>with </a:t>
            </a:r>
            <a:r>
              <a:rPr lang="en" sz="2400">
                <a:solidFill>
                  <a:srgbClr val="00FF00"/>
                </a:solidFill>
              </a:rPr>
              <a:t>digital environments</a:t>
            </a:r>
            <a:r>
              <a:rPr lang="en" sz="2400">
                <a:solidFill>
                  <a:srgbClr val="FFFFFF"/>
                </a:solidFill>
              </a:rPr>
              <a:t> and develop core skills in science, technology and engineering.</a:t>
            </a:r>
            <a:endParaRPr sz="2400">
              <a:solidFill>
                <a:srgbClr val="FFFFFF"/>
              </a:solidFill>
            </a:endParaRPr>
          </a:p>
        </p:txBody>
      </p:sp>
      <p:sp>
        <p:nvSpPr>
          <p:cNvPr id="75" name="Shape 75"/>
          <p:cNvSpPr txBox="1"/>
          <p:nvPr/>
        </p:nvSpPr>
        <p:spPr>
          <a:xfrm>
            <a:off x="4828600" y="618150"/>
            <a:ext cx="3907200" cy="10425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1600"/>
              </a:spcAft>
              <a:buNone/>
            </a:pPr>
            <a:r>
              <a:rPr lang="en" sz="2800" u="sng">
                <a:solidFill>
                  <a:schemeClr val="accent5"/>
                </a:solidFill>
                <a:latin typeface="Average"/>
                <a:ea typeface="Average"/>
                <a:cs typeface="Average"/>
                <a:sym typeface="Average"/>
              </a:rPr>
              <a:t>http://www.microbit.org</a:t>
            </a:r>
            <a:endParaRPr sz="2800" u="sng">
              <a:solidFill>
                <a:schemeClr val="accent5"/>
              </a:solidFill>
              <a:latin typeface="Average"/>
              <a:ea typeface="Average"/>
              <a:cs typeface="Average"/>
              <a:sym typeface="Average"/>
            </a:endParaRPr>
          </a:p>
        </p:txBody>
      </p:sp>
      <p:pic>
        <p:nvPicPr>
          <p:cNvPr id="76" name="Shape 76"/>
          <p:cNvPicPr preferRelativeResize="0"/>
          <p:nvPr/>
        </p:nvPicPr>
        <p:blipFill>
          <a:blip r:embed="rId3">
            <a:alphaModFix/>
          </a:blip>
          <a:stretch>
            <a:fillRect/>
          </a:stretch>
        </p:blipFill>
        <p:spPr>
          <a:xfrm>
            <a:off x="0" y="-7"/>
            <a:ext cx="9144001" cy="51405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200"/>
                                        <p:tgtEl>
                                          <p:spTgt spid="7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0" name="Shape 80"/>
        <p:cNvGrpSpPr/>
        <p:nvPr/>
      </p:nvGrpSpPr>
      <p:grpSpPr>
        <a:xfrm>
          <a:off x="0" y="0"/>
          <a:ext cx="0" cy="0"/>
          <a:chOff x="0" y="0"/>
          <a:chExt cx="0" cy="0"/>
        </a:xfrm>
      </p:grpSpPr>
      <p:sp>
        <p:nvSpPr>
          <p:cNvPr id="81" name="Shape 8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Why the BBC </a:t>
            </a:r>
            <a:r>
              <a:rPr lang="en">
                <a:solidFill>
                  <a:srgbClr val="FF9900"/>
                </a:solidFill>
              </a:rPr>
              <a:t>M</a:t>
            </a:r>
            <a:r>
              <a:rPr lang="en">
                <a:solidFill>
                  <a:srgbClr val="FFFF00"/>
                </a:solidFill>
              </a:rPr>
              <a:t>i</a:t>
            </a:r>
            <a:r>
              <a:rPr lang="en">
                <a:solidFill>
                  <a:srgbClr val="00FF00"/>
                </a:solidFill>
              </a:rPr>
              <a:t>c</a:t>
            </a:r>
            <a:r>
              <a:rPr lang="en">
                <a:solidFill>
                  <a:srgbClr val="00FFFF"/>
                </a:solidFill>
              </a:rPr>
              <a:t>r</a:t>
            </a:r>
            <a:r>
              <a:rPr lang="en">
                <a:solidFill>
                  <a:srgbClr val="4A86E8"/>
                </a:solidFill>
              </a:rPr>
              <a:t>o:</a:t>
            </a:r>
            <a:r>
              <a:rPr lang="en">
                <a:solidFill>
                  <a:srgbClr val="0000FF"/>
                </a:solidFill>
              </a:rPr>
              <a:t>b</a:t>
            </a:r>
            <a:r>
              <a:rPr lang="en">
                <a:solidFill>
                  <a:srgbClr val="9900FF"/>
                </a:solidFill>
              </a:rPr>
              <a:t>i</a:t>
            </a:r>
            <a:r>
              <a:rPr lang="en">
                <a:solidFill>
                  <a:srgbClr val="FF00FF"/>
                </a:solidFill>
              </a:rPr>
              <a:t>t</a:t>
            </a:r>
            <a:r>
              <a:rPr lang="en"/>
              <a:t>?</a:t>
            </a:r>
            <a:endParaRPr/>
          </a:p>
        </p:txBody>
      </p:sp>
      <p:sp>
        <p:nvSpPr>
          <p:cNvPr id="82" name="Shape 8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t/>
            </a:r>
            <a:endParaRPr i="1">
              <a:solidFill>
                <a:srgbClr val="FFFFFF"/>
              </a:solidFill>
            </a:endParaRPr>
          </a:p>
          <a:p>
            <a:pPr indent="0" lvl="0" marL="0" rtl="0">
              <a:spcBef>
                <a:spcPts val="1600"/>
              </a:spcBef>
              <a:spcAft>
                <a:spcPts val="0"/>
              </a:spcAft>
              <a:buNone/>
            </a:pPr>
            <a:r>
              <a:rPr lang="en">
                <a:solidFill>
                  <a:srgbClr val="FFFFFF"/>
                </a:solidFill>
              </a:rPr>
              <a:t>More complex projects</a:t>
            </a:r>
            <a:endParaRPr>
              <a:solidFill>
                <a:srgbClr val="FFFFFF"/>
              </a:solidFill>
            </a:endParaRPr>
          </a:p>
          <a:p>
            <a:pPr indent="0" lvl="0" marL="0">
              <a:spcBef>
                <a:spcPts val="1600"/>
              </a:spcBef>
              <a:spcAft>
                <a:spcPts val="0"/>
              </a:spcAft>
              <a:buNone/>
            </a:pPr>
            <a:r>
              <a:rPr lang="en" u="sng">
                <a:solidFill>
                  <a:schemeClr val="accent5"/>
                </a:solidFill>
                <a:hlinkClick r:id="rId3"/>
              </a:rPr>
              <a:t>http://www.bbc.com/news/technology-35824446</a:t>
            </a:r>
            <a:r>
              <a:rPr lang="en">
                <a:solidFill>
                  <a:srgbClr val="F1C232"/>
                </a:solidFill>
              </a:rPr>
              <a:t> </a:t>
            </a:r>
            <a:endParaRPr>
              <a:solidFill>
                <a:srgbClr val="F1C232"/>
              </a:solidFill>
            </a:endParaRPr>
          </a:p>
          <a:p>
            <a:pPr indent="0" lvl="0" marL="0">
              <a:spcBef>
                <a:spcPts val="1600"/>
              </a:spcBef>
              <a:spcAft>
                <a:spcPts val="0"/>
              </a:spcAft>
              <a:buNone/>
            </a:pPr>
            <a:r>
              <a:rPr lang="en">
                <a:solidFill>
                  <a:srgbClr val="FFFFFF"/>
                </a:solidFill>
              </a:rPr>
              <a:t>Where to get one:</a:t>
            </a:r>
            <a:endParaRPr>
              <a:solidFill>
                <a:srgbClr val="FFFFFF"/>
              </a:solidFill>
            </a:endParaRPr>
          </a:p>
          <a:p>
            <a:pPr indent="0" lvl="0" marL="0" rtl="0">
              <a:spcBef>
                <a:spcPts val="1600"/>
              </a:spcBef>
              <a:spcAft>
                <a:spcPts val="1600"/>
              </a:spcAft>
              <a:buNone/>
            </a:pPr>
            <a:r>
              <a:rPr lang="en" u="sng">
                <a:solidFill>
                  <a:schemeClr val="accent5"/>
                </a:solidFill>
                <a:hlinkClick r:id="rId4"/>
              </a:rPr>
              <a:t>https://shop.pimoroni.com/collections/micro-bit-uk</a:t>
            </a:r>
            <a:r>
              <a:rPr lang="en"/>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6" name="Shape 86"/>
        <p:cNvGrpSpPr/>
        <p:nvPr/>
      </p:nvGrpSpPr>
      <p:grpSpPr>
        <a:xfrm>
          <a:off x="0" y="0"/>
          <a:ext cx="0" cy="0"/>
          <a:chOff x="0" y="0"/>
          <a:chExt cx="0" cy="0"/>
        </a:xfrm>
      </p:grpSpPr>
      <p:sp>
        <p:nvSpPr>
          <p:cNvPr id="87" name="Shape 8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
        <p:nvSpPr>
          <p:cNvPr id="88" name="Shape 8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1600"/>
              </a:spcAft>
              <a:buNone/>
            </a:pPr>
            <a:r>
              <a:t/>
            </a:r>
            <a:endParaRPr/>
          </a:p>
        </p:txBody>
      </p:sp>
      <p:sp>
        <p:nvSpPr>
          <p:cNvPr descr="NTT CHANNEL NEWS" id="89" name="Shape 89" title="Rishworth School sent a Micro Bit into the stratosphere">
            <a:hlinkClick r:id="rId3"/>
          </p:cNvPr>
          <p:cNvSpPr/>
          <p:nvPr/>
        </p:nvSpPr>
        <p:spPr>
          <a:xfrm>
            <a:off x="182525" y="-720362"/>
            <a:ext cx="8778925" cy="6584225"/>
          </a:xfrm>
          <a:prstGeom prst="rect">
            <a:avLst/>
          </a:prstGeom>
          <a:blipFill>
            <a:blip r:embed="rId4">
              <a:alphaModFix/>
            </a:blip>
            <a:stretch>
              <a:fillRect/>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3" name="Shape 93"/>
        <p:cNvGrpSpPr/>
        <p:nvPr/>
      </p:nvGrpSpPr>
      <p:grpSpPr>
        <a:xfrm>
          <a:off x="0" y="0"/>
          <a:ext cx="0" cy="0"/>
          <a:chOff x="0" y="0"/>
          <a:chExt cx="0" cy="0"/>
        </a:xfrm>
      </p:grpSpPr>
      <p:sp>
        <p:nvSpPr>
          <p:cNvPr id="94" name="Shape 9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BBC Microbit Code Editor</a:t>
            </a:r>
            <a:endParaRPr/>
          </a:p>
        </p:txBody>
      </p:sp>
      <p:pic>
        <p:nvPicPr>
          <p:cNvPr id="95" name="Shape 95"/>
          <p:cNvPicPr preferRelativeResize="0"/>
          <p:nvPr/>
        </p:nvPicPr>
        <p:blipFill>
          <a:blip r:embed="rId3">
            <a:alphaModFix/>
          </a:blip>
          <a:stretch>
            <a:fillRect/>
          </a:stretch>
        </p:blipFill>
        <p:spPr>
          <a:xfrm>
            <a:off x="4158016" y="941525"/>
            <a:ext cx="4833584" cy="4049099"/>
          </a:xfrm>
          <a:prstGeom prst="rect">
            <a:avLst/>
          </a:prstGeom>
          <a:noFill/>
          <a:ln>
            <a:noFill/>
          </a:ln>
        </p:spPr>
      </p:pic>
      <p:cxnSp>
        <p:nvCxnSpPr>
          <p:cNvPr id="96" name="Shape 96"/>
          <p:cNvCxnSpPr/>
          <p:nvPr/>
        </p:nvCxnSpPr>
        <p:spPr>
          <a:xfrm>
            <a:off x="835225" y="2421250"/>
            <a:ext cx="2797200" cy="0"/>
          </a:xfrm>
          <a:prstGeom prst="straightConnector1">
            <a:avLst/>
          </a:prstGeom>
          <a:noFill/>
          <a:ln cap="flat" cmpd="sng" w="114300">
            <a:solidFill>
              <a:srgbClr val="6FA8DC"/>
            </a:solidFill>
            <a:prstDash val="solid"/>
            <a:round/>
            <a:headEnd len="lg" w="lg" type="none"/>
            <a:tailEnd len="lg" w="lg" type="triangle"/>
          </a:ln>
        </p:spPr>
      </p:cxnSp>
      <p:sp>
        <p:nvSpPr>
          <p:cNvPr id="97" name="Shape 97"/>
          <p:cNvSpPr txBox="1"/>
          <p:nvPr/>
        </p:nvSpPr>
        <p:spPr>
          <a:xfrm>
            <a:off x="83100" y="1838225"/>
            <a:ext cx="4540200" cy="3000000"/>
          </a:xfrm>
          <a:prstGeom prst="rect">
            <a:avLst/>
          </a:prstGeom>
          <a:noFill/>
          <a:ln>
            <a:noFill/>
          </a:ln>
        </p:spPr>
        <p:txBody>
          <a:bodyPr anchorCtr="0" anchor="ctr" bIns="91425" lIns="91425" spcFirstLastPara="1" rIns="91425" wrap="square" tIns="91425">
            <a:noAutofit/>
          </a:bodyPr>
          <a:lstStyle/>
          <a:p>
            <a:pPr indent="0" lvl="0" marL="0">
              <a:spcBef>
                <a:spcPts val="0"/>
              </a:spcBef>
              <a:spcAft>
                <a:spcPts val="0"/>
              </a:spcAft>
              <a:buNone/>
            </a:pPr>
            <a:r>
              <a:rPr lang="en" sz="2000">
                <a:solidFill>
                  <a:schemeClr val="dk1"/>
                </a:solidFill>
                <a:latin typeface="Average"/>
                <a:ea typeface="Average"/>
                <a:cs typeface="Average"/>
                <a:sym typeface="Average"/>
              </a:rPr>
              <a:t>Website:</a:t>
            </a:r>
            <a:endParaRPr sz="2000">
              <a:solidFill>
                <a:schemeClr val="dk1"/>
              </a:solidFill>
              <a:latin typeface="Average"/>
              <a:ea typeface="Average"/>
              <a:cs typeface="Average"/>
              <a:sym typeface="Average"/>
            </a:endParaRPr>
          </a:p>
          <a:p>
            <a:pPr indent="0" lvl="0" marL="0">
              <a:spcBef>
                <a:spcPts val="0"/>
              </a:spcBef>
              <a:spcAft>
                <a:spcPts val="0"/>
              </a:spcAft>
              <a:buNone/>
            </a:pPr>
            <a:r>
              <a:rPr lang="en" sz="2000" u="sng">
                <a:solidFill>
                  <a:schemeClr val="hlink"/>
                </a:solidFill>
                <a:latin typeface="Average"/>
                <a:ea typeface="Average"/>
                <a:cs typeface="Average"/>
                <a:sym typeface="Average"/>
                <a:hlinkClick r:id="rId4"/>
              </a:rPr>
              <a:t>microbit.org</a:t>
            </a:r>
            <a:r>
              <a:rPr lang="en" sz="2000" u="sng">
                <a:solidFill>
                  <a:schemeClr val="hlink"/>
                </a:solidFill>
                <a:latin typeface="Average"/>
                <a:ea typeface="Average"/>
                <a:cs typeface="Average"/>
                <a:sym typeface="Average"/>
              </a:rPr>
              <a:t>/code/</a:t>
            </a:r>
            <a:endParaRPr sz="2000">
              <a:solidFill>
                <a:schemeClr val="dk1"/>
              </a:solidFill>
              <a:latin typeface="Average"/>
              <a:ea typeface="Average"/>
              <a:cs typeface="Average"/>
              <a:sym typeface="Average"/>
            </a:endParaRPr>
          </a:p>
          <a:p>
            <a:pPr indent="0" lvl="0" marL="0">
              <a:spcBef>
                <a:spcPts val="0"/>
              </a:spcBef>
              <a:spcAft>
                <a:spcPts val="0"/>
              </a:spcAft>
              <a:buNone/>
            </a:pPr>
            <a:r>
              <a:rPr lang="en" sz="2000">
                <a:solidFill>
                  <a:srgbClr val="FFFFFF"/>
                </a:solidFill>
                <a:latin typeface="Average"/>
                <a:ea typeface="Average"/>
                <a:cs typeface="Average"/>
                <a:sym typeface="Average"/>
              </a:rPr>
              <a:t>Documentation:</a:t>
            </a:r>
            <a:endParaRPr sz="2000">
              <a:solidFill>
                <a:srgbClr val="FFFFFF"/>
              </a:solidFill>
              <a:latin typeface="Average"/>
              <a:ea typeface="Average"/>
              <a:cs typeface="Average"/>
              <a:sym typeface="Average"/>
            </a:endParaRPr>
          </a:p>
          <a:p>
            <a:pPr indent="0" lvl="0" marL="0" rtl="0">
              <a:spcBef>
                <a:spcPts val="0"/>
              </a:spcBef>
              <a:spcAft>
                <a:spcPts val="0"/>
              </a:spcAft>
              <a:buNone/>
            </a:pPr>
            <a:r>
              <a:rPr lang="en" sz="2000" u="sng">
                <a:solidFill>
                  <a:schemeClr val="hlink"/>
                </a:solidFill>
                <a:latin typeface="Average"/>
                <a:ea typeface="Average"/>
                <a:cs typeface="Average"/>
                <a:sym typeface="Average"/>
                <a:hlinkClick r:id="rId5"/>
              </a:rPr>
              <a:t>microbit-micropython.readthedocs.io</a:t>
            </a:r>
            <a:endParaRPr sz="200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1" name="Shape 101"/>
        <p:cNvGrpSpPr/>
        <p:nvPr/>
      </p:nvGrpSpPr>
      <p:grpSpPr>
        <a:xfrm>
          <a:off x="0" y="0"/>
          <a:ext cx="0" cy="0"/>
          <a:chOff x="0" y="0"/>
          <a:chExt cx="0" cy="0"/>
        </a:xfrm>
      </p:grpSpPr>
      <p:sp>
        <p:nvSpPr>
          <p:cNvPr id="102" name="Shape 102"/>
          <p:cNvSpPr txBox="1"/>
          <p:nvPr>
            <p:ph type="title"/>
          </p:nvPr>
        </p:nvSpPr>
        <p:spPr>
          <a:xfrm>
            <a:off x="311700" y="43337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Default</a:t>
            </a:r>
            <a:endParaRPr/>
          </a:p>
        </p:txBody>
      </p:sp>
      <p:pic>
        <p:nvPicPr>
          <p:cNvPr id="103" name="Shape 103"/>
          <p:cNvPicPr preferRelativeResize="0"/>
          <p:nvPr/>
        </p:nvPicPr>
        <p:blipFill>
          <a:blip r:embed="rId3">
            <a:alphaModFix/>
          </a:blip>
          <a:stretch>
            <a:fillRect/>
          </a:stretch>
        </p:blipFill>
        <p:spPr>
          <a:xfrm>
            <a:off x="1134788" y="1310875"/>
            <a:ext cx="6874426" cy="3458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7" name="Shape 107"/>
        <p:cNvGrpSpPr/>
        <p:nvPr/>
      </p:nvGrpSpPr>
      <p:grpSpPr>
        <a:xfrm>
          <a:off x="0" y="0"/>
          <a:ext cx="0" cy="0"/>
          <a:chOff x="0" y="0"/>
          <a:chExt cx="0" cy="0"/>
        </a:xfrm>
      </p:grpSpPr>
      <p:sp>
        <p:nvSpPr>
          <p:cNvPr id="108" name="Shape 10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Display</a:t>
            </a:r>
            <a:endParaRPr/>
          </a:p>
        </p:txBody>
      </p:sp>
      <p:pic>
        <p:nvPicPr>
          <p:cNvPr id="109" name="Shape 109"/>
          <p:cNvPicPr preferRelativeResize="0"/>
          <p:nvPr/>
        </p:nvPicPr>
        <p:blipFill>
          <a:blip r:embed="rId3">
            <a:alphaModFix/>
          </a:blip>
          <a:stretch>
            <a:fillRect/>
          </a:stretch>
        </p:blipFill>
        <p:spPr>
          <a:xfrm>
            <a:off x="776648" y="1516940"/>
            <a:ext cx="7590700" cy="292461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3" name="Shape 113"/>
        <p:cNvGrpSpPr/>
        <p:nvPr/>
      </p:nvGrpSpPr>
      <p:grpSpPr>
        <a:xfrm>
          <a:off x="0" y="0"/>
          <a:ext cx="0" cy="0"/>
          <a:chOff x="0" y="0"/>
          <a:chExt cx="0" cy="0"/>
        </a:xfrm>
      </p:grpSpPr>
      <p:sp>
        <p:nvSpPr>
          <p:cNvPr id="114" name="Shape 1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Buttons</a:t>
            </a:r>
            <a:endParaRPr/>
          </a:p>
        </p:txBody>
      </p:sp>
      <p:sp>
        <p:nvSpPr>
          <p:cNvPr id="115" name="Shape 115"/>
          <p:cNvSpPr txBox="1"/>
          <p:nvPr>
            <p:ph idx="1" type="body"/>
          </p:nvPr>
        </p:nvSpPr>
        <p:spPr>
          <a:xfrm>
            <a:off x="309825" y="4200475"/>
            <a:ext cx="8520600" cy="887400"/>
          </a:xfrm>
          <a:prstGeom prst="rect">
            <a:avLst/>
          </a:prstGeom>
        </p:spPr>
        <p:txBody>
          <a:bodyPr anchorCtr="0" anchor="t" bIns="91425" lIns="91425" spcFirstLastPara="1" rIns="91425" wrap="square" tIns="91425">
            <a:noAutofit/>
          </a:bodyPr>
          <a:lstStyle/>
          <a:p>
            <a:pPr indent="0" lvl="0" marL="0" algn="ctr">
              <a:spcBef>
                <a:spcPts val="0"/>
              </a:spcBef>
              <a:spcAft>
                <a:spcPts val="1600"/>
              </a:spcAft>
              <a:buNone/>
            </a:pPr>
            <a:r>
              <a:rPr lang="en"/>
              <a:t>Supplementary task : Display a different image when both buttons are pressed at the same time.</a:t>
            </a:r>
            <a:endParaRPr/>
          </a:p>
        </p:txBody>
      </p:sp>
      <p:pic>
        <p:nvPicPr>
          <p:cNvPr id="116" name="Shape 116"/>
          <p:cNvPicPr preferRelativeResize="0"/>
          <p:nvPr/>
        </p:nvPicPr>
        <p:blipFill>
          <a:blip r:embed="rId3">
            <a:alphaModFix/>
          </a:blip>
          <a:stretch>
            <a:fillRect/>
          </a:stretch>
        </p:blipFill>
        <p:spPr>
          <a:xfrm>
            <a:off x="2107875" y="1165713"/>
            <a:ext cx="4924498" cy="2886775"/>
          </a:xfrm>
          <a:prstGeom prst="rect">
            <a:avLst/>
          </a:prstGeom>
          <a:noFill/>
          <a:ln>
            <a:noFill/>
          </a:ln>
        </p:spPr>
      </p:pic>
      <p:pic>
        <p:nvPicPr>
          <p:cNvPr id="117" name="Shape 117"/>
          <p:cNvPicPr preferRelativeResize="0"/>
          <p:nvPr/>
        </p:nvPicPr>
        <p:blipFill>
          <a:blip r:embed="rId4">
            <a:alphaModFix/>
          </a:blip>
          <a:stretch>
            <a:fillRect/>
          </a:stretch>
        </p:blipFill>
        <p:spPr>
          <a:xfrm>
            <a:off x="532873" y="2109038"/>
            <a:ext cx="1019175" cy="1000125"/>
          </a:xfrm>
          <a:prstGeom prst="rect">
            <a:avLst/>
          </a:prstGeom>
          <a:noFill/>
          <a:ln>
            <a:noFill/>
          </a:ln>
        </p:spPr>
      </p:pic>
      <p:pic>
        <p:nvPicPr>
          <p:cNvPr id="118" name="Shape 118"/>
          <p:cNvPicPr preferRelativeResize="0"/>
          <p:nvPr/>
        </p:nvPicPr>
        <p:blipFill>
          <a:blip r:embed="rId5">
            <a:alphaModFix/>
          </a:blip>
          <a:stretch>
            <a:fillRect/>
          </a:stretch>
        </p:blipFill>
        <p:spPr>
          <a:xfrm>
            <a:off x="7588198" y="2099513"/>
            <a:ext cx="1076325" cy="1019175"/>
          </a:xfrm>
          <a:prstGeom prst="rect">
            <a:avLst/>
          </a:prstGeom>
          <a:noFill/>
          <a:ln>
            <a:noFill/>
          </a:ln>
        </p:spPr>
      </p:pic>
      <p:pic>
        <p:nvPicPr>
          <p:cNvPr id="119" name="Shape 119"/>
          <p:cNvPicPr preferRelativeResize="0"/>
          <p:nvPr/>
        </p:nvPicPr>
        <p:blipFill>
          <a:blip r:embed="rId6">
            <a:alphaModFix/>
          </a:blip>
          <a:stretch>
            <a:fillRect/>
          </a:stretch>
        </p:blipFill>
        <p:spPr>
          <a:xfrm>
            <a:off x="7702650" y="2185388"/>
            <a:ext cx="847426" cy="847426"/>
          </a:xfrm>
          <a:prstGeom prst="rect">
            <a:avLst/>
          </a:prstGeom>
          <a:noFill/>
          <a:ln>
            <a:noFill/>
          </a:ln>
        </p:spPr>
      </p:pic>
      <p:pic>
        <p:nvPicPr>
          <p:cNvPr id="120" name="Shape 120"/>
          <p:cNvPicPr preferRelativeResize="0"/>
          <p:nvPr/>
        </p:nvPicPr>
        <p:blipFill>
          <a:blip r:embed="rId7">
            <a:alphaModFix/>
          </a:blip>
          <a:stretch>
            <a:fillRect/>
          </a:stretch>
        </p:blipFill>
        <p:spPr>
          <a:xfrm>
            <a:off x="532875" y="2099513"/>
            <a:ext cx="1019176" cy="1019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1500"/>
                                        <p:tgtEl>
                                          <p:spTgt spid="117"/>
                                        </p:tgtEl>
                                        <p:attrNameLst>
                                          <p:attrName>ppt_w</p:attrName>
                                        </p:attrNameLst>
                                      </p:cBhvr>
                                      <p:tavLst>
                                        <p:tav fmla="" tm="0">
                                          <p:val>
                                            <p:strVal val="#ppt_w"/>
                                          </p:val>
                                        </p:tav>
                                        <p:tav fmla="" tm="100000">
                                          <p:val>
                                            <p:strVal val="0"/>
                                          </p:val>
                                        </p:tav>
                                      </p:tavLst>
                                    </p:anim>
                                    <p:anim calcmode="lin" valueType="num">
                                      <p:cBhvr additive="base">
                                        <p:cTn dur="1500"/>
                                        <p:tgtEl>
                                          <p:spTgt spid="117"/>
                                        </p:tgtEl>
                                        <p:attrNameLst>
                                          <p:attrName>ppt_h</p:attrName>
                                        </p:attrNameLst>
                                      </p:cBhvr>
                                      <p:tavLst>
                                        <p:tav fmla="" tm="0">
                                          <p:val>
                                            <p:strVal val="#ppt_h"/>
                                          </p:val>
                                        </p:tav>
                                        <p:tav fmla="" tm="100000">
                                          <p:val>
                                            <p:strVal val="0"/>
                                          </p:val>
                                        </p:tav>
                                      </p:tavLst>
                                    </p:anim>
                                    <p:set>
                                      <p:cBhvr>
                                        <p:cTn dur="1" fill="hold">
                                          <p:stCondLst>
                                            <p:cond delay="1500"/>
                                          </p:stCondLst>
                                        </p:cTn>
                                        <p:tgtEl>
                                          <p:spTgt spid="117"/>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1600"/>
                                        <p:tgtEl>
                                          <p:spTgt spid="118"/>
                                        </p:tgtEl>
                                        <p:attrNameLst>
                                          <p:attrName>ppt_w</p:attrName>
                                        </p:attrNameLst>
                                      </p:cBhvr>
                                      <p:tavLst>
                                        <p:tav fmla="" tm="0">
                                          <p:val>
                                            <p:strVal val="#ppt_w"/>
                                          </p:val>
                                        </p:tav>
                                        <p:tav fmla="" tm="100000">
                                          <p:val>
                                            <p:strVal val="0"/>
                                          </p:val>
                                        </p:tav>
                                      </p:tavLst>
                                    </p:anim>
                                    <p:anim calcmode="lin" valueType="num">
                                      <p:cBhvr additive="base">
                                        <p:cTn dur="1600"/>
                                        <p:tgtEl>
                                          <p:spTgt spid="118"/>
                                        </p:tgtEl>
                                        <p:attrNameLst>
                                          <p:attrName>ppt_h</p:attrName>
                                        </p:attrNameLst>
                                      </p:cBhvr>
                                      <p:tavLst>
                                        <p:tav fmla="" tm="0">
                                          <p:val>
                                            <p:strVal val="#ppt_h"/>
                                          </p:val>
                                        </p:tav>
                                        <p:tav fmla="" tm="100000">
                                          <p:val>
                                            <p:strVal val="0"/>
                                          </p:val>
                                        </p:tav>
                                      </p:tavLst>
                                    </p:anim>
                                    <p:set>
                                      <p:cBhvr>
                                        <p:cTn dur="1" fill="hold">
                                          <p:stCondLst>
                                            <p:cond delay="1600"/>
                                          </p:stCondLst>
                                        </p:cTn>
                                        <p:tgtEl>
                                          <p:spTgt spid="118"/>
                                        </p:tgtEl>
                                        <p:attrNameLst>
                                          <p:attrName>style.visibility</p:attrName>
                                        </p:attrNameLst>
                                      </p:cBhvr>
                                      <p:to>
                                        <p:strVal val="hidden"/>
                                      </p:to>
                                    </p:set>
                                  </p:childTnLst>
                                </p:cTn>
                              </p:par>
                            </p:childTnLst>
                          </p:cTn>
                        </p:par>
                        <p:par>
                          <p:cTn fill="hold">
                            <p:stCondLst>
                              <p:cond delay="1600"/>
                            </p:stCondLst>
                            <p:childTnLst>
                              <p:par>
                                <p:cTn fill="hold" nodeType="after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4" name="Shape 124"/>
        <p:cNvGrpSpPr/>
        <p:nvPr/>
      </p:nvGrpSpPr>
      <p:grpSpPr>
        <a:xfrm>
          <a:off x="0" y="0"/>
          <a:ext cx="0" cy="0"/>
          <a:chOff x="0" y="0"/>
          <a:chExt cx="0" cy="0"/>
        </a:xfrm>
      </p:grpSpPr>
      <p:sp>
        <p:nvSpPr>
          <p:cNvPr id="125" name="Shape 1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Accelerometer</a:t>
            </a:r>
            <a:endParaRPr/>
          </a:p>
        </p:txBody>
      </p:sp>
      <p:sp>
        <p:nvSpPr>
          <p:cNvPr id="126" name="Shape 126"/>
          <p:cNvSpPr txBox="1"/>
          <p:nvPr>
            <p:ph idx="1" type="body"/>
          </p:nvPr>
        </p:nvSpPr>
        <p:spPr>
          <a:xfrm>
            <a:off x="207625" y="4318850"/>
            <a:ext cx="8520600" cy="647400"/>
          </a:xfrm>
          <a:prstGeom prst="rect">
            <a:avLst/>
          </a:prstGeom>
        </p:spPr>
        <p:txBody>
          <a:bodyPr anchorCtr="0" anchor="t" bIns="91425" lIns="91425" spcFirstLastPara="1" rIns="91425" wrap="square" tIns="91425">
            <a:noAutofit/>
          </a:bodyPr>
          <a:lstStyle/>
          <a:p>
            <a:pPr indent="0" lvl="0" marL="0" algn="ctr">
              <a:spcBef>
                <a:spcPts val="0"/>
              </a:spcBef>
              <a:spcAft>
                <a:spcPts val="1600"/>
              </a:spcAft>
              <a:buNone/>
            </a:pPr>
            <a:r>
              <a:rPr lang="en"/>
              <a:t>Supplementary task: Can you display the y-axis reading as well?</a:t>
            </a:r>
            <a:endParaRPr/>
          </a:p>
        </p:txBody>
      </p:sp>
      <p:pic>
        <p:nvPicPr>
          <p:cNvPr id="127" name="Shape 127"/>
          <p:cNvPicPr preferRelativeResize="0"/>
          <p:nvPr/>
        </p:nvPicPr>
        <p:blipFill>
          <a:blip r:embed="rId3">
            <a:alphaModFix/>
          </a:blip>
          <a:stretch>
            <a:fillRect/>
          </a:stretch>
        </p:blipFill>
        <p:spPr>
          <a:xfrm>
            <a:off x="2040300" y="1120825"/>
            <a:ext cx="5063388" cy="3094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CFE2F3"/>
        </a:solidFill>
      </p:bgPr>
    </p:bg>
    <p:spTree>
      <p:nvGrpSpPr>
        <p:cNvPr id="131" name="Shape 131"/>
        <p:cNvGrpSpPr/>
        <p:nvPr/>
      </p:nvGrpSpPr>
      <p:grpSpPr>
        <a:xfrm>
          <a:off x="0" y="0"/>
          <a:ext cx="0" cy="0"/>
          <a:chOff x="0" y="0"/>
          <a:chExt cx="0" cy="0"/>
        </a:xfrm>
      </p:grpSpPr>
      <p:sp>
        <p:nvSpPr>
          <p:cNvPr id="132" name="Shape 1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lgn="ctr">
              <a:spcBef>
                <a:spcPts val="0"/>
              </a:spcBef>
              <a:spcAft>
                <a:spcPts val="0"/>
              </a:spcAft>
              <a:buNone/>
            </a:pPr>
            <a:r>
              <a:rPr lang="en">
                <a:solidFill>
                  <a:srgbClr val="0B5394"/>
                </a:solidFill>
                <a:latin typeface="Amaranth"/>
                <a:ea typeface="Amaranth"/>
                <a:cs typeface="Amaranth"/>
                <a:sym typeface="Amaranth"/>
              </a:rPr>
              <a:t>Sweet Quizzes and breaks!!!</a:t>
            </a:r>
            <a:endParaRPr>
              <a:solidFill>
                <a:srgbClr val="0B5394"/>
              </a:solidFill>
              <a:latin typeface="Amaranth"/>
              <a:ea typeface="Amaranth"/>
              <a:cs typeface="Amaranth"/>
              <a:sym typeface="Amaranth"/>
            </a:endParaRPr>
          </a:p>
        </p:txBody>
      </p:sp>
      <p:sp>
        <p:nvSpPr>
          <p:cNvPr id="133" name="Shape 133"/>
          <p:cNvSpPr txBox="1"/>
          <p:nvPr>
            <p:ph idx="1" type="body"/>
          </p:nvPr>
        </p:nvSpPr>
        <p:spPr>
          <a:xfrm>
            <a:off x="311700" y="1358600"/>
            <a:ext cx="8520600" cy="3416400"/>
          </a:xfrm>
          <a:prstGeom prst="rect">
            <a:avLst/>
          </a:prstGeom>
        </p:spPr>
        <p:txBody>
          <a:bodyPr anchorCtr="0" anchor="t" bIns="91425" lIns="91425" spcFirstLastPara="1" rIns="91425" wrap="square" tIns="91425">
            <a:noAutofit/>
          </a:bodyPr>
          <a:lstStyle/>
          <a:p>
            <a:pPr indent="457200" lvl="0" marL="3200400" algn="l">
              <a:spcBef>
                <a:spcPts val="0"/>
              </a:spcBef>
              <a:spcAft>
                <a:spcPts val="0"/>
              </a:spcAft>
              <a:buNone/>
            </a:pPr>
            <a:r>
              <a:rPr b="1" lang="en" sz="4500">
                <a:solidFill>
                  <a:srgbClr val="0B5394"/>
                </a:solidFill>
                <a:latin typeface="Amatic SC"/>
                <a:ea typeface="Amatic SC"/>
                <a:cs typeface="Amatic SC"/>
                <a:sym typeface="Amatic SC"/>
              </a:rPr>
              <a:t>Go to</a:t>
            </a:r>
            <a:r>
              <a:rPr b="1" lang="en" sz="4500">
                <a:solidFill>
                  <a:schemeClr val="accent4"/>
                </a:solidFill>
                <a:latin typeface="Amatic SC"/>
                <a:ea typeface="Amatic SC"/>
                <a:cs typeface="Amatic SC"/>
                <a:sym typeface="Amatic SC"/>
              </a:rPr>
              <a:t> </a:t>
            </a:r>
            <a:endParaRPr b="1" sz="4500">
              <a:solidFill>
                <a:schemeClr val="accent4"/>
              </a:solidFill>
              <a:latin typeface="Amatic SC"/>
              <a:ea typeface="Amatic SC"/>
              <a:cs typeface="Amatic SC"/>
              <a:sym typeface="Amatic SC"/>
            </a:endParaRPr>
          </a:p>
          <a:p>
            <a:pPr indent="0" lvl="0" marL="0" algn="ctr">
              <a:spcBef>
                <a:spcPts val="1600"/>
              </a:spcBef>
              <a:spcAft>
                <a:spcPts val="0"/>
              </a:spcAft>
              <a:buNone/>
            </a:pPr>
            <a:r>
              <a:rPr b="1" lang="en" sz="4500" u="sng">
                <a:solidFill>
                  <a:srgbClr val="000000"/>
                </a:solidFill>
                <a:latin typeface="Amatic SC"/>
                <a:ea typeface="Amatic SC"/>
                <a:cs typeface="Amatic SC"/>
                <a:sym typeface="Amatic SC"/>
              </a:rPr>
              <a:t>Kahoot.it</a:t>
            </a:r>
            <a:endParaRPr b="1" sz="4500" u="sng">
              <a:solidFill>
                <a:srgbClr val="000000"/>
              </a:solidFill>
              <a:latin typeface="Amatic SC"/>
              <a:ea typeface="Amatic SC"/>
              <a:cs typeface="Amatic SC"/>
              <a:sym typeface="Amatic SC"/>
            </a:endParaRPr>
          </a:p>
          <a:p>
            <a:pPr indent="0" lvl="0" marL="0" algn="ctr">
              <a:spcBef>
                <a:spcPts val="1600"/>
              </a:spcBef>
              <a:spcAft>
                <a:spcPts val="1600"/>
              </a:spcAft>
              <a:buNone/>
            </a:pPr>
            <a:r>
              <a:rPr b="1" lang="en" sz="4500">
                <a:solidFill>
                  <a:srgbClr val="0B5394"/>
                </a:solidFill>
                <a:latin typeface="Amatic SC"/>
                <a:ea typeface="Amatic SC"/>
                <a:cs typeface="Amatic SC"/>
                <a:sym typeface="Amatic SC"/>
              </a:rPr>
              <a:t>For amazing quizzes!</a:t>
            </a:r>
            <a:endParaRPr b="1" sz="4500">
              <a:solidFill>
                <a:srgbClr val="0B5394"/>
              </a:solidFill>
              <a:latin typeface="Amatic SC"/>
              <a:ea typeface="Amatic SC"/>
              <a:cs typeface="Amatic SC"/>
              <a:sym typeface="Amatic S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7" name="Shape 137"/>
        <p:cNvGrpSpPr/>
        <p:nvPr/>
      </p:nvGrpSpPr>
      <p:grpSpPr>
        <a:xfrm>
          <a:off x="0" y="0"/>
          <a:ext cx="0" cy="0"/>
          <a:chOff x="0" y="0"/>
          <a:chExt cx="0" cy="0"/>
        </a:xfrm>
      </p:grpSpPr>
      <p:sp>
        <p:nvSpPr>
          <p:cNvPr id="138" name="Shape 1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Input/Output </a:t>
            </a:r>
            <a:endParaRPr/>
          </a:p>
        </p:txBody>
      </p:sp>
      <p:pic>
        <p:nvPicPr>
          <p:cNvPr id="139" name="Shape 139"/>
          <p:cNvPicPr preferRelativeResize="0"/>
          <p:nvPr/>
        </p:nvPicPr>
        <p:blipFill>
          <a:blip r:embed="rId3">
            <a:alphaModFix/>
          </a:blip>
          <a:stretch>
            <a:fillRect/>
          </a:stretch>
        </p:blipFill>
        <p:spPr>
          <a:xfrm>
            <a:off x="1328350" y="1276144"/>
            <a:ext cx="6487300" cy="3150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3" name="Shape 143"/>
        <p:cNvGrpSpPr/>
        <p:nvPr/>
      </p:nvGrpSpPr>
      <p:grpSpPr>
        <a:xfrm>
          <a:off x="0" y="0"/>
          <a:ext cx="0" cy="0"/>
          <a:chOff x="0" y="0"/>
          <a:chExt cx="0" cy="0"/>
        </a:xfrm>
      </p:grpSpPr>
      <p:pic>
        <p:nvPicPr>
          <p:cNvPr id="144" name="Shape 144"/>
          <p:cNvPicPr preferRelativeResize="0"/>
          <p:nvPr/>
        </p:nvPicPr>
        <p:blipFill>
          <a:blip r:embed="rId3">
            <a:alphaModFix/>
          </a:blip>
          <a:stretch>
            <a:fillRect/>
          </a:stretch>
        </p:blipFill>
        <p:spPr>
          <a:xfrm>
            <a:off x="836688" y="0"/>
            <a:ext cx="7470625" cy="5265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8" name="Shape 148"/>
        <p:cNvGrpSpPr/>
        <p:nvPr/>
      </p:nvGrpSpPr>
      <p:grpSpPr>
        <a:xfrm>
          <a:off x="0" y="0"/>
          <a:ext cx="0" cy="0"/>
          <a:chOff x="0" y="0"/>
          <a:chExt cx="0" cy="0"/>
        </a:xfrm>
      </p:grpSpPr>
      <p:sp>
        <p:nvSpPr>
          <p:cNvPr id="149" name="Shape 1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Buzzer, Led, Button and LDR (Setup 1)</a:t>
            </a:r>
            <a:endParaRPr/>
          </a:p>
        </p:txBody>
      </p:sp>
      <p:pic>
        <p:nvPicPr>
          <p:cNvPr id="150" name="Shape 150"/>
          <p:cNvPicPr preferRelativeResize="0"/>
          <p:nvPr/>
        </p:nvPicPr>
        <p:blipFill>
          <a:blip r:embed="rId3">
            <a:alphaModFix/>
          </a:blip>
          <a:stretch>
            <a:fillRect/>
          </a:stretch>
        </p:blipFill>
        <p:spPr>
          <a:xfrm>
            <a:off x="1829627" y="1520488"/>
            <a:ext cx="5661486" cy="2102525"/>
          </a:xfrm>
          <a:prstGeom prst="rect">
            <a:avLst/>
          </a:prstGeom>
          <a:noFill/>
          <a:ln>
            <a:noFill/>
          </a:ln>
        </p:spPr>
      </p:pic>
      <p:sp>
        <p:nvSpPr>
          <p:cNvPr id="151" name="Shape 151"/>
          <p:cNvSpPr txBox="1"/>
          <p:nvPr>
            <p:ph idx="1" type="body"/>
          </p:nvPr>
        </p:nvSpPr>
        <p:spPr>
          <a:xfrm>
            <a:off x="400075" y="3581375"/>
            <a:ext cx="8520600" cy="135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LED flickers when the LDR is covered, and the </a:t>
            </a:r>
            <a:endParaRPr/>
          </a:p>
          <a:p>
            <a:pPr indent="0" lvl="0" marL="0" rtl="0" algn="ctr">
              <a:spcBef>
                <a:spcPts val="0"/>
              </a:spcBef>
              <a:spcAft>
                <a:spcPts val="0"/>
              </a:spcAft>
              <a:buNone/>
            </a:pPr>
            <a:r>
              <a:rPr lang="en"/>
              <a:t>buzzer sounds when the button is pressed.</a:t>
            </a:r>
            <a:endParaRPr/>
          </a:p>
          <a:p>
            <a:pPr indent="0" lvl="0" marL="0" rtl="0" algn="ctr">
              <a:spcBef>
                <a:spcPts val="0"/>
              </a:spcBef>
              <a:spcAft>
                <a:spcPts val="0"/>
              </a:spcAft>
              <a:buNone/>
            </a:pPr>
            <a:r>
              <a:t/>
            </a:r>
            <a:endParaRPr/>
          </a:p>
          <a:p>
            <a:pPr indent="0" lvl="0" marL="0" rtl="0" algn="l">
              <a:spcBef>
                <a:spcPts val="0"/>
              </a:spcBef>
              <a:spcAft>
                <a:spcPts val="1600"/>
              </a:spcAft>
              <a:buNone/>
            </a:pPr>
            <a:r>
              <a:rPr lang="en"/>
              <a:t>Supplementary task: Make the LED turn off completely when the LDR is not covered.</a:t>
            </a:r>
            <a:endParaRPr/>
          </a:p>
        </p:txBody>
      </p:sp>
      <p:sp>
        <p:nvSpPr>
          <p:cNvPr id="152" name="Shape 152"/>
          <p:cNvSpPr txBox="1"/>
          <p:nvPr/>
        </p:nvSpPr>
        <p:spPr>
          <a:xfrm>
            <a:off x="3155775" y="1851125"/>
            <a:ext cx="150300" cy="2253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None/>
            </a:pPr>
            <a:r>
              <a:rPr lang="en">
                <a:solidFill>
                  <a:srgbClr val="FFFFFF"/>
                </a:solidFill>
              </a:rPr>
              <a:t>88</a:t>
            </a:r>
            <a:endParaRPr>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6" name="Shape 156"/>
        <p:cNvGrpSpPr/>
        <p:nvPr/>
      </p:nvGrpSpPr>
      <p:grpSpPr>
        <a:xfrm>
          <a:off x="0" y="0"/>
          <a:ext cx="0" cy="0"/>
          <a:chOff x="0" y="0"/>
          <a:chExt cx="0" cy="0"/>
        </a:xfrm>
      </p:grpSpPr>
      <p:sp>
        <p:nvSpPr>
          <p:cNvPr id="157" name="Shape 1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Buzzer, Led, Button and LDR (Setup 1)</a:t>
            </a:r>
            <a:endParaRPr/>
          </a:p>
        </p:txBody>
      </p:sp>
      <p:sp>
        <p:nvSpPr>
          <p:cNvPr id="158" name="Shape 158"/>
          <p:cNvSpPr txBox="1"/>
          <p:nvPr/>
        </p:nvSpPr>
        <p:spPr>
          <a:xfrm>
            <a:off x="311700" y="1580000"/>
            <a:ext cx="6275100" cy="3413100"/>
          </a:xfrm>
          <a:prstGeom prst="rect">
            <a:avLst/>
          </a:prstGeom>
          <a:noFill/>
          <a:ln>
            <a:noFill/>
          </a:ln>
        </p:spPr>
        <p:txBody>
          <a:bodyPr anchorCtr="0" anchor="ctr" bIns="91425" lIns="91425" spcFirstLastPara="1" rIns="91425" wrap="square" tIns="91425">
            <a:noAutofit/>
          </a:bodyPr>
          <a:lstStyle/>
          <a:p>
            <a:pPr indent="0" lvl="0" marL="0" rtl="0">
              <a:lnSpc>
                <a:spcPct val="115000"/>
              </a:lnSpc>
              <a:spcBef>
                <a:spcPts val="0"/>
              </a:spcBef>
              <a:spcAft>
                <a:spcPts val="0"/>
              </a:spcAft>
              <a:buNone/>
            </a:pPr>
            <a:r>
              <a:rPr lang="en" sz="1800">
                <a:solidFill>
                  <a:srgbClr val="FFFFFF"/>
                </a:solidFill>
                <a:latin typeface="Average"/>
                <a:ea typeface="Average"/>
                <a:cs typeface="Average"/>
                <a:sym typeface="Average"/>
              </a:rPr>
              <a:t>Assemble setup 1 as shown in the schematic. </a:t>
            </a:r>
            <a:endParaRPr sz="1800">
              <a:solidFill>
                <a:srgbClr val="FFFFFF"/>
              </a:solidFill>
              <a:latin typeface="Average"/>
              <a:ea typeface="Average"/>
              <a:cs typeface="Average"/>
              <a:sym typeface="Average"/>
            </a:endParaRPr>
          </a:p>
          <a:p>
            <a:pPr indent="0" lvl="0" marL="0" rtl="0">
              <a:lnSpc>
                <a:spcPct val="115000"/>
              </a:lnSpc>
              <a:spcBef>
                <a:spcPts val="1600"/>
              </a:spcBef>
              <a:spcAft>
                <a:spcPts val="0"/>
              </a:spcAft>
              <a:buNone/>
            </a:pPr>
            <a:r>
              <a:rPr lang="en" sz="1800">
                <a:solidFill>
                  <a:srgbClr val="FFFFFF"/>
                </a:solidFill>
                <a:latin typeface="Average"/>
                <a:ea typeface="Average"/>
                <a:cs typeface="Average"/>
                <a:sym typeface="Average"/>
              </a:rPr>
              <a:t>Pin 0 - Buzzer</a:t>
            </a:r>
            <a:endParaRPr sz="1800">
              <a:solidFill>
                <a:srgbClr val="FFFFFF"/>
              </a:solidFill>
              <a:latin typeface="Average"/>
              <a:ea typeface="Average"/>
              <a:cs typeface="Average"/>
              <a:sym typeface="Average"/>
            </a:endParaRPr>
          </a:p>
          <a:p>
            <a:pPr indent="0" lvl="0" marL="0" rtl="0">
              <a:lnSpc>
                <a:spcPct val="115000"/>
              </a:lnSpc>
              <a:spcBef>
                <a:spcPts val="1600"/>
              </a:spcBef>
              <a:spcAft>
                <a:spcPts val="0"/>
              </a:spcAft>
              <a:buNone/>
            </a:pPr>
            <a:r>
              <a:rPr lang="en" sz="1800">
                <a:solidFill>
                  <a:srgbClr val="FFFFFF"/>
                </a:solidFill>
                <a:latin typeface="Average"/>
                <a:ea typeface="Average"/>
                <a:cs typeface="Average"/>
                <a:sym typeface="Average"/>
              </a:rPr>
              <a:t>Pin 1 - LDR</a:t>
            </a:r>
            <a:endParaRPr sz="1800">
              <a:solidFill>
                <a:srgbClr val="FFFFFF"/>
              </a:solidFill>
              <a:latin typeface="Average"/>
              <a:ea typeface="Average"/>
              <a:cs typeface="Average"/>
              <a:sym typeface="Average"/>
            </a:endParaRPr>
          </a:p>
          <a:p>
            <a:pPr indent="0" lvl="0" marL="0" rtl="0">
              <a:lnSpc>
                <a:spcPct val="115000"/>
              </a:lnSpc>
              <a:spcBef>
                <a:spcPts val="1600"/>
              </a:spcBef>
              <a:spcAft>
                <a:spcPts val="0"/>
              </a:spcAft>
              <a:buNone/>
            </a:pPr>
            <a:r>
              <a:rPr lang="en" sz="1800">
                <a:solidFill>
                  <a:srgbClr val="FFFFFF"/>
                </a:solidFill>
                <a:latin typeface="Average"/>
                <a:ea typeface="Average"/>
                <a:cs typeface="Average"/>
                <a:sym typeface="Average"/>
              </a:rPr>
              <a:t>Pin 2 - LED</a:t>
            </a:r>
            <a:endParaRPr sz="1800">
              <a:solidFill>
                <a:srgbClr val="FFFFFF"/>
              </a:solidFill>
              <a:latin typeface="Average"/>
              <a:ea typeface="Average"/>
              <a:cs typeface="Average"/>
              <a:sym typeface="Average"/>
            </a:endParaRPr>
          </a:p>
          <a:p>
            <a:pPr indent="0" lvl="0" marL="0" rtl="0">
              <a:lnSpc>
                <a:spcPct val="115000"/>
              </a:lnSpc>
              <a:spcBef>
                <a:spcPts val="1600"/>
              </a:spcBef>
              <a:spcAft>
                <a:spcPts val="0"/>
              </a:spcAft>
              <a:buNone/>
            </a:pPr>
            <a:r>
              <a:rPr lang="en" sz="1800">
                <a:solidFill>
                  <a:srgbClr val="FFFFFF"/>
                </a:solidFill>
                <a:latin typeface="Average"/>
                <a:ea typeface="Average"/>
                <a:cs typeface="Average"/>
                <a:sym typeface="Average"/>
              </a:rPr>
              <a:t>Pin 8 - Button</a:t>
            </a:r>
            <a:endParaRPr sz="1800">
              <a:solidFill>
                <a:srgbClr val="FFFFFF"/>
              </a:solidFill>
              <a:latin typeface="Average"/>
              <a:ea typeface="Average"/>
              <a:cs typeface="Average"/>
              <a:sym typeface="Average"/>
            </a:endParaRPr>
          </a:p>
          <a:p>
            <a:pPr indent="0" lvl="0" marL="0" rtl="0">
              <a:lnSpc>
                <a:spcPct val="100000"/>
              </a:lnSpc>
              <a:spcBef>
                <a:spcPts val="1600"/>
              </a:spcBef>
              <a:spcAft>
                <a:spcPts val="0"/>
              </a:spcAft>
              <a:buNone/>
            </a:pPr>
            <a:r>
              <a:rPr lang="en" sz="1800">
                <a:solidFill>
                  <a:srgbClr val="FFFFFF"/>
                </a:solidFill>
                <a:latin typeface="Average"/>
                <a:ea typeface="Average"/>
                <a:cs typeface="Average"/>
                <a:sym typeface="Average"/>
              </a:rPr>
              <a:t>With this setup, you can attempt</a:t>
            </a:r>
            <a:endParaRPr sz="1800">
              <a:solidFill>
                <a:srgbClr val="FFFFFF"/>
              </a:solidFill>
              <a:latin typeface="Average"/>
              <a:ea typeface="Average"/>
              <a:cs typeface="Average"/>
              <a:sym typeface="Average"/>
            </a:endParaRPr>
          </a:p>
          <a:p>
            <a:pPr indent="0" lvl="0" marL="0" rtl="0">
              <a:lnSpc>
                <a:spcPct val="100000"/>
              </a:lnSpc>
              <a:spcBef>
                <a:spcPts val="1600"/>
              </a:spcBef>
              <a:spcAft>
                <a:spcPts val="0"/>
              </a:spcAft>
              <a:buNone/>
            </a:pPr>
            <a:r>
              <a:rPr lang="en" sz="1800">
                <a:solidFill>
                  <a:srgbClr val="FFFFFF"/>
                </a:solidFill>
                <a:latin typeface="Average"/>
                <a:ea typeface="Average"/>
                <a:cs typeface="Average"/>
                <a:sym typeface="Average"/>
              </a:rPr>
              <a:t> extra tasks 4, 5 and 6.</a:t>
            </a:r>
            <a:endParaRPr sz="1800">
              <a:solidFill>
                <a:srgbClr val="FFFFFF"/>
              </a:solidFill>
              <a:latin typeface="Average"/>
              <a:ea typeface="Average"/>
              <a:cs typeface="Average"/>
              <a:sym typeface="Average"/>
            </a:endParaRPr>
          </a:p>
          <a:p>
            <a:pPr indent="0" lvl="0" marL="0" rtl="0">
              <a:lnSpc>
                <a:spcPct val="100000"/>
              </a:lnSpc>
              <a:spcBef>
                <a:spcPts val="1600"/>
              </a:spcBef>
              <a:spcAft>
                <a:spcPts val="1600"/>
              </a:spcAft>
              <a:buNone/>
            </a:pPr>
            <a:r>
              <a:t/>
            </a:r>
            <a:endParaRPr sz="1800">
              <a:latin typeface="Average"/>
              <a:ea typeface="Average"/>
              <a:cs typeface="Average"/>
              <a:sym typeface="Average"/>
            </a:endParaRPr>
          </a:p>
        </p:txBody>
      </p:sp>
      <p:grpSp>
        <p:nvGrpSpPr>
          <p:cNvPr id="159" name="Shape 159"/>
          <p:cNvGrpSpPr/>
          <p:nvPr/>
        </p:nvGrpSpPr>
        <p:grpSpPr>
          <a:xfrm>
            <a:off x="5181600" y="985100"/>
            <a:ext cx="3792425" cy="3893125"/>
            <a:chOff x="5108950" y="1122975"/>
            <a:chExt cx="3792425" cy="3893125"/>
          </a:xfrm>
        </p:grpSpPr>
        <p:pic>
          <p:nvPicPr>
            <p:cNvPr id="160" name="Shape 160"/>
            <p:cNvPicPr preferRelativeResize="0"/>
            <p:nvPr/>
          </p:nvPicPr>
          <p:blipFill rotWithShape="1">
            <a:blip r:embed="rId3">
              <a:alphaModFix/>
            </a:blip>
            <a:srcRect b="4232" l="0" r="0" t="0"/>
            <a:stretch/>
          </p:blipFill>
          <p:spPr>
            <a:xfrm>
              <a:off x="5108950" y="1122975"/>
              <a:ext cx="3792425" cy="3845975"/>
            </a:xfrm>
            <a:prstGeom prst="rect">
              <a:avLst/>
            </a:prstGeom>
            <a:noFill/>
            <a:ln>
              <a:noFill/>
            </a:ln>
          </p:spPr>
        </p:pic>
        <p:sp>
          <p:nvSpPr>
            <p:cNvPr id="161" name="Shape 161"/>
            <p:cNvSpPr txBox="1"/>
            <p:nvPr/>
          </p:nvSpPr>
          <p:spPr>
            <a:xfrm>
              <a:off x="5846600" y="4488700"/>
              <a:ext cx="753600" cy="4512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None/>
              </a:pPr>
              <a:r>
                <a:rPr b="1" lang="en"/>
                <a:t>Pin 0</a:t>
              </a:r>
              <a:endParaRPr b="1"/>
            </a:p>
          </p:txBody>
        </p:sp>
        <p:sp>
          <p:nvSpPr>
            <p:cNvPr id="162" name="Shape 162"/>
            <p:cNvSpPr txBox="1"/>
            <p:nvPr/>
          </p:nvSpPr>
          <p:spPr>
            <a:xfrm>
              <a:off x="6799875" y="4488700"/>
              <a:ext cx="753600" cy="4512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b="1" lang="en"/>
                <a:t>Pin 8</a:t>
              </a:r>
              <a:endParaRPr b="1"/>
            </a:p>
          </p:txBody>
        </p:sp>
        <p:sp>
          <p:nvSpPr>
            <p:cNvPr id="163" name="Shape 163"/>
            <p:cNvSpPr txBox="1"/>
            <p:nvPr/>
          </p:nvSpPr>
          <p:spPr>
            <a:xfrm>
              <a:off x="7600750" y="4412500"/>
              <a:ext cx="753600" cy="4512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b="1" lang="en"/>
                <a:t>Pin 1</a:t>
              </a:r>
              <a:endParaRPr b="1"/>
            </a:p>
          </p:txBody>
        </p:sp>
        <p:sp>
          <p:nvSpPr>
            <p:cNvPr id="164" name="Shape 164"/>
            <p:cNvSpPr txBox="1"/>
            <p:nvPr/>
          </p:nvSpPr>
          <p:spPr>
            <a:xfrm>
              <a:off x="8078700" y="4564900"/>
              <a:ext cx="753600" cy="4512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b="1" lang="en"/>
                <a:t>Pin 2</a:t>
              </a:r>
              <a:endParaRPr b="1"/>
            </a:p>
          </p:txBody>
        </p:sp>
      </p:grpSp>
      <p:sp>
        <p:nvSpPr>
          <p:cNvPr id="165" name="Shape 165"/>
          <p:cNvSpPr txBox="1"/>
          <p:nvPr/>
        </p:nvSpPr>
        <p:spPr>
          <a:xfrm>
            <a:off x="5014650" y="2900950"/>
            <a:ext cx="753600" cy="4512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b="1" lang="en" sz="3600">
                <a:latin typeface="Impact"/>
                <a:ea typeface="Impact"/>
                <a:cs typeface="Impact"/>
                <a:sym typeface="Impact"/>
              </a:rPr>
              <a:t>-</a:t>
            </a:r>
            <a:endParaRPr b="1" sz="3600">
              <a:latin typeface="Impact"/>
              <a:ea typeface="Impact"/>
              <a:cs typeface="Impact"/>
              <a:sym typeface="Impact"/>
            </a:endParaRPr>
          </a:p>
        </p:txBody>
      </p:sp>
      <p:sp>
        <p:nvSpPr>
          <p:cNvPr id="166" name="Shape 166"/>
          <p:cNvSpPr txBox="1"/>
          <p:nvPr/>
        </p:nvSpPr>
        <p:spPr>
          <a:xfrm>
            <a:off x="5000150" y="3185825"/>
            <a:ext cx="422400" cy="3807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b="1" lang="en" sz="2700">
                <a:solidFill>
                  <a:srgbClr val="FF0000"/>
                </a:solidFill>
                <a:latin typeface="Impact"/>
                <a:ea typeface="Impact"/>
                <a:cs typeface="Impact"/>
                <a:sym typeface="Impact"/>
              </a:rPr>
              <a:t>+</a:t>
            </a:r>
            <a:endParaRPr b="1" sz="2700">
              <a:solidFill>
                <a:srgbClr val="FF0000"/>
              </a:solidFill>
              <a:latin typeface="Impact"/>
              <a:ea typeface="Impact"/>
              <a:cs typeface="Impact"/>
              <a:sym typeface="Impac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0" name="Shape 170"/>
        <p:cNvGrpSpPr/>
        <p:nvPr/>
      </p:nvGrpSpPr>
      <p:grpSpPr>
        <a:xfrm>
          <a:off x="0" y="0"/>
          <a:ext cx="0" cy="0"/>
          <a:chOff x="0" y="0"/>
          <a:chExt cx="0" cy="0"/>
        </a:xfrm>
      </p:grpSpPr>
      <p:sp>
        <p:nvSpPr>
          <p:cNvPr id="171" name="Shape 1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Buzzer/LEDs/Buttons (Setup 2)</a:t>
            </a:r>
            <a:endParaRPr/>
          </a:p>
        </p:txBody>
      </p:sp>
      <p:sp>
        <p:nvSpPr>
          <p:cNvPr id="172" name="Shape 17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solidFill>
                  <a:srgbClr val="FFFFFF"/>
                </a:solidFill>
              </a:rPr>
              <a:t>Assemble setup 1 as shown in the schematic. </a:t>
            </a:r>
            <a:endParaRPr>
              <a:solidFill>
                <a:srgbClr val="FFFFFF"/>
              </a:solidFill>
            </a:endParaRPr>
          </a:p>
          <a:p>
            <a:pPr indent="0" lvl="0" marL="0">
              <a:spcBef>
                <a:spcPts val="1600"/>
              </a:spcBef>
              <a:spcAft>
                <a:spcPts val="0"/>
              </a:spcAft>
              <a:buNone/>
            </a:pPr>
            <a:r>
              <a:rPr lang="en">
                <a:solidFill>
                  <a:srgbClr val="FFFFFF"/>
                </a:solidFill>
              </a:rPr>
              <a:t>Pin 12, Pin 2, Pin 16 - LED</a:t>
            </a:r>
            <a:endParaRPr>
              <a:solidFill>
                <a:srgbClr val="FFFFFF"/>
              </a:solidFill>
            </a:endParaRPr>
          </a:p>
          <a:p>
            <a:pPr indent="0" lvl="0" marL="0">
              <a:spcBef>
                <a:spcPts val="1600"/>
              </a:spcBef>
              <a:spcAft>
                <a:spcPts val="0"/>
              </a:spcAft>
              <a:buNone/>
            </a:pPr>
            <a:r>
              <a:rPr lang="en">
                <a:solidFill>
                  <a:srgbClr val="FFFFFF"/>
                </a:solidFill>
              </a:rPr>
              <a:t>Pin 0, Pin 1, Pin 8 - Button</a:t>
            </a:r>
            <a:endParaRPr>
              <a:solidFill>
                <a:srgbClr val="FFFFFF"/>
              </a:solidFill>
            </a:endParaRPr>
          </a:p>
          <a:p>
            <a:pPr indent="0" lvl="0" marL="0">
              <a:spcBef>
                <a:spcPts val="1600"/>
              </a:spcBef>
              <a:spcAft>
                <a:spcPts val="0"/>
              </a:spcAft>
              <a:buNone/>
            </a:pPr>
            <a:r>
              <a:rPr lang="en">
                <a:solidFill>
                  <a:srgbClr val="FFFFFF"/>
                </a:solidFill>
              </a:rPr>
              <a:t>Pin 3 - Buzzer</a:t>
            </a:r>
            <a:endParaRPr>
              <a:solidFill>
                <a:srgbClr val="FFFFFF"/>
              </a:solidFill>
            </a:endParaRPr>
          </a:p>
          <a:p>
            <a:pPr indent="0" lvl="0" marL="0" rtl="0">
              <a:lnSpc>
                <a:spcPct val="100000"/>
              </a:lnSpc>
              <a:spcBef>
                <a:spcPts val="1600"/>
              </a:spcBef>
              <a:spcAft>
                <a:spcPts val="0"/>
              </a:spcAft>
              <a:buNone/>
            </a:pPr>
            <a:r>
              <a:rPr lang="en">
                <a:solidFill>
                  <a:srgbClr val="FFFFFF"/>
                </a:solidFill>
              </a:rPr>
              <a:t>With this setup, you can attempt</a:t>
            </a:r>
            <a:endParaRPr>
              <a:solidFill>
                <a:srgbClr val="FFFFFF"/>
              </a:solidFill>
            </a:endParaRPr>
          </a:p>
          <a:p>
            <a:pPr indent="0" lvl="0" marL="0" rtl="0">
              <a:lnSpc>
                <a:spcPct val="100000"/>
              </a:lnSpc>
              <a:spcBef>
                <a:spcPts val="1600"/>
              </a:spcBef>
              <a:spcAft>
                <a:spcPts val="0"/>
              </a:spcAft>
              <a:buNone/>
            </a:pPr>
            <a:r>
              <a:rPr lang="en">
                <a:solidFill>
                  <a:srgbClr val="FFFFFF"/>
                </a:solidFill>
              </a:rPr>
              <a:t> extra tasks 7 and 8.</a:t>
            </a:r>
            <a:endParaRPr>
              <a:solidFill>
                <a:srgbClr val="FFFFFF"/>
              </a:solidFill>
            </a:endParaRPr>
          </a:p>
          <a:p>
            <a:pPr indent="0" lvl="0" marL="0" rtl="0">
              <a:spcBef>
                <a:spcPts val="1600"/>
              </a:spcBef>
              <a:spcAft>
                <a:spcPts val="0"/>
              </a:spcAft>
              <a:buNone/>
            </a:pPr>
            <a:r>
              <a:rPr lang="en">
                <a:solidFill>
                  <a:srgbClr val="FFFFFF"/>
                </a:solidFill>
              </a:rPr>
              <a:t>(Follow the schematic on the following slide.)</a:t>
            </a:r>
            <a:endParaRPr>
              <a:solidFill>
                <a:srgbClr val="FFFFFF"/>
              </a:solidFill>
            </a:endParaRPr>
          </a:p>
          <a:p>
            <a:pPr indent="0" lvl="0" marL="0" rtl="0">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6" name="Shape 176"/>
        <p:cNvGrpSpPr/>
        <p:nvPr/>
      </p:nvGrpSpPr>
      <p:grpSpPr>
        <a:xfrm>
          <a:off x="0" y="0"/>
          <a:ext cx="0" cy="0"/>
          <a:chOff x="0" y="0"/>
          <a:chExt cx="0" cy="0"/>
        </a:xfrm>
      </p:grpSpPr>
      <p:sp>
        <p:nvSpPr>
          <p:cNvPr id="177" name="Shape 17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Buzzer/LEDs/Buttons </a:t>
            </a:r>
            <a:r>
              <a:rPr lang="en"/>
              <a:t>(Setup 2)</a:t>
            </a:r>
            <a:endParaRPr/>
          </a:p>
        </p:txBody>
      </p:sp>
      <p:pic>
        <p:nvPicPr>
          <p:cNvPr id="178" name="Shape 178"/>
          <p:cNvPicPr preferRelativeResize="0"/>
          <p:nvPr/>
        </p:nvPicPr>
        <p:blipFill>
          <a:blip r:embed="rId3">
            <a:alphaModFix/>
          </a:blip>
          <a:stretch>
            <a:fillRect/>
          </a:stretch>
        </p:blipFill>
        <p:spPr>
          <a:xfrm>
            <a:off x="2402389" y="1017725"/>
            <a:ext cx="6515485" cy="3967900"/>
          </a:xfrm>
          <a:prstGeom prst="rect">
            <a:avLst/>
          </a:prstGeom>
          <a:noFill/>
          <a:ln>
            <a:noFill/>
          </a:ln>
        </p:spPr>
      </p:pic>
      <p:sp>
        <p:nvSpPr>
          <p:cNvPr id="179" name="Shape 179"/>
          <p:cNvSpPr/>
          <p:nvPr/>
        </p:nvSpPr>
        <p:spPr>
          <a:xfrm>
            <a:off x="3853550" y="1214850"/>
            <a:ext cx="4751700" cy="261300"/>
          </a:xfrm>
          <a:prstGeom prst="rect">
            <a:avLst/>
          </a:prstGeom>
          <a:solidFill>
            <a:srgbClr val="FFFFFF"/>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180" name="Shape 180"/>
          <p:cNvSpPr txBox="1"/>
          <p:nvPr/>
        </p:nvSpPr>
        <p:spPr>
          <a:xfrm>
            <a:off x="3706575" y="1160425"/>
            <a:ext cx="7341300" cy="8565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None/>
            </a:pPr>
            <a:r>
              <a:rPr b="1" lang="en"/>
              <a:t>Pin3  Pin0   Pin1 Pin8                Pin12 Pin2   Pin16      0V</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4" name="Shape 184"/>
        <p:cNvGrpSpPr/>
        <p:nvPr/>
      </p:nvGrpSpPr>
      <p:grpSpPr>
        <a:xfrm>
          <a:off x="0" y="0"/>
          <a:ext cx="0" cy="0"/>
          <a:chOff x="0" y="0"/>
          <a:chExt cx="0" cy="0"/>
        </a:xfrm>
      </p:grpSpPr>
      <p:sp>
        <p:nvSpPr>
          <p:cNvPr id="185" name="Shape 18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Buzzer/LEDs/Buttons </a:t>
            </a:r>
            <a:r>
              <a:rPr lang="en"/>
              <a:t>(Setup 2)</a:t>
            </a:r>
            <a:endParaRPr/>
          </a:p>
        </p:txBody>
      </p:sp>
      <p:pic>
        <p:nvPicPr>
          <p:cNvPr id="186" name="Shape 186"/>
          <p:cNvPicPr preferRelativeResize="0"/>
          <p:nvPr/>
        </p:nvPicPr>
        <p:blipFill>
          <a:blip r:embed="rId3">
            <a:alphaModFix/>
          </a:blip>
          <a:stretch>
            <a:fillRect/>
          </a:stretch>
        </p:blipFill>
        <p:spPr>
          <a:xfrm>
            <a:off x="2690800" y="1266163"/>
            <a:ext cx="3762375" cy="3419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0" name="Shape 190"/>
        <p:cNvGrpSpPr/>
        <p:nvPr/>
      </p:nvGrpSpPr>
      <p:grpSpPr>
        <a:xfrm>
          <a:off x="0" y="0"/>
          <a:ext cx="0" cy="0"/>
          <a:chOff x="0" y="0"/>
          <a:chExt cx="0" cy="0"/>
        </a:xfrm>
      </p:grpSpPr>
      <p:sp>
        <p:nvSpPr>
          <p:cNvPr id="191" name="Shape 19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Motor and Potentiometer </a:t>
            </a:r>
            <a:r>
              <a:rPr lang="en"/>
              <a:t>(Setup 3)</a:t>
            </a:r>
            <a:endParaRPr/>
          </a:p>
        </p:txBody>
      </p:sp>
      <p:sp>
        <p:nvSpPr>
          <p:cNvPr id="192" name="Shape 19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solidFill>
                  <a:srgbClr val="FFFFFF"/>
                </a:solidFill>
              </a:rPr>
              <a:t>(Follow the schematic on the next slide.)</a:t>
            </a:r>
            <a:endParaRPr>
              <a:solidFill>
                <a:srgbClr val="FFFFFF"/>
              </a:solidFill>
            </a:endParaRPr>
          </a:p>
          <a:p>
            <a:pPr indent="0" lvl="0" marL="0" rtl="0">
              <a:spcBef>
                <a:spcPts val="1600"/>
              </a:spcBef>
              <a:spcAft>
                <a:spcPts val="0"/>
              </a:spcAft>
              <a:buNone/>
            </a:pPr>
            <a:r>
              <a:rPr lang="en">
                <a:solidFill>
                  <a:srgbClr val="FFFFFF"/>
                </a:solidFill>
              </a:rPr>
              <a:t>Connect the motor to the terminal connector. The black (negative) end should be connected to the left leg of the transistor. The red (positive) end should be connected to the 3v power supply.</a:t>
            </a:r>
            <a:endParaRPr>
              <a:solidFill>
                <a:srgbClr val="FFFFFF"/>
              </a:solidFill>
            </a:endParaRPr>
          </a:p>
          <a:p>
            <a:pPr indent="0" lvl="0" marL="0" rtl="0">
              <a:spcBef>
                <a:spcPts val="1600"/>
              </a:spcBef>
              <a:spcAft>
                <a:spcPts val="0"/>
              </a:spcAft>
              <a:buNone/>
            </a:pPr>
            <a:r>
              <a:rPr lang="en">
                <a:solidFill>
                  <a:srgbClr val="FFFFFF"/>
                </a:solidFill>
              </a:rPr>
              <a:t>Connect the middle leg of the transistor to pin 0 through the 2.2kΩ resistor. The right leg of the transistor should be connected to the ground (0V) </a:t>
            </a:r>
            <a:endParaRPr>
              <a:solidFill>
                <a:srgbClr val="FFFFFF"/>
              </a:solidFill>
            </a:endParaRPr>
          </a:p>
          <a:p>
            <a:pPr indent="0" lvl="0" marL="0" rtl="0">
              <a:spcBef>
                <a:spcPts val="1600"/>
              </a:spcBef>
              <a:spcAft>
                <a:spcPts val="1600"/>
              </a:spcAft>
              <a:buNone/>
            </a:pPr>
            <a:r>
              <a:rPr lang="en">
                <a:solidFill>
                  <a:srgbClr val="FFFFFF"/>
                </a:solidFill>
              </a:rPr>
              <a:t>Connect the left leg of the potentiometer to the 0v pin, the right leg to the 3v power supply and the middle leg of the potentiometer to pin 1.</a:t>
            </a:r>
            <a:endParaRPr>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6" name="Shape 196"/>
        <p:cNvGrpSpPr/>
        <p:nvPr/>
      </p:nvGrpSpPr>
      <p:grpSpPr>
        <a:xfrm>
          <a:off x="0" y="0"/>
          <a:ext cx="0" cy="0"/>
          <a:chOff x="0" y="0"/>
          <a:chExt cx="0" cy="0"/>
        </a:xfrm>
      </p:grpSpPr>
      <p:sp>
        <p:nvSpPr>
          <p:cNvPr id="197" name="Shape 19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Motor and Potentiometer (Setup 3)</a:t>
            </a:r>
            <a:endParaRPr/>
          </a:p>
        </p:txBody>
      </p:sp>
      <p:pic>
        <p:nvPicPr>
          <p:cNvPr id="198" name="Shape 198"/>
          <p:cNvPicPr preferRelativeResize="0"/>
          <p:nvPr/>
        </p:nvPicPr>
        <p:blipFill rotWithShape="1">
          <a:blip r:embed="rId3">
            <a:alphaModFix/>
          </a:blip>
          <a:srcRect b="8214" l="0" r="0" t="0"/>
          <a:stretch/>
        </p:blipFill>
        <p:spPr>
          <a:xfrm>
            <a:off x="1177455" y="1017725"/>
            <a:ext cx="6789082" cy="3943950"/>
          </a:xfrm>
          <a:prstGeom prst="rect">
            <a:avLst/>
          </a:prstGeom>
          <a:noFill/>
          <a:ln>
            <a:noFill/>
          </a:ln>
        </p:spPr>
      </p:pic>
      <p:cxnSp>
        <p:nvCxnSpPr>
          <p:cNvPr id="199" name="Shape 199"/>
          <p:cNvCxnSpPr/>
          <p:nvPr/>
        </p:nvCxnSpPr>
        <p:spPr>
          <a:xfrm>
            <a:off x="4631600" y="3939300"/>
            <a:ext cx="356700" cy="3600"/>
          </a:xfrm>
          <a:prstGeom prst="straightConnector1">
            <a:avLst/>
          </a:prstGeom>
          <a:noFill/>
          <a:ln cap="flat" cmpd="sng" w="38100">
            <a:solidFill>
              <a:srgbClr val="00D000"/>
            </a:solidFill>
            <a:prstDash val="solid"/>
            <a:round/>
            <a:headEnd len="lg" w="lg" type="none"/>
            <a:tailEnd len="lg" w="lg" type="none"/>
          </a:ln>
        </p:spPr>
      </p:cxnSp>
      <p:cxnSp>
        <p:nvCxnSpPr>
          <p:cNvPr id="200" name="Shape 200"/>
          <p:cNvCxnSpPr/>
          <p:nvPr/>
        </p:nvCxnSpPr>
        <p:spPr>
          <a:xfrm flipH="1" rot="10800000">
            <a:off x="4646750" y="3953200"/>
            <a:ext cx="465600" cy="10500"/>
          </a:xfrm>
          <a:prstGeom prst="straightConnector1">
            <a:avLst/>
          </a:prstGeom>
          <a:noFill/>
          <a:ln cap="flat" cmpd="sng" w="38100">
            <a:solidFill>
              <a:srgbClr val="00D000"/>
            </a:solidFill>
            <a:prstDash val="solid"/>
            <a:round/>
            <a:headEnd len="lg" w="lg" type="none"/>
            <a:tailEnd len="lg" w="lg"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4" name="Shape 204"/>
        <p:cNvGrpSpPr/>
        <p:nvPr/>
      </p:nvGrpSpPr>
      <p:grpSpPr>
        <a:xfrm>
          <a:off x="0" y="0"/>
          <a:ext cx="0" cy="0"/>
          <a:chOff x="0" y="0"/>
          <a:chExt cx="0" cy="0"/>
        </a:xfrm>
      </p:grpSpPr>
      <p:sp>
        <p:nvSpPr>
          <p:cNvPr id="205" name="Shape 20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Motor and Potentiometer (Setup 3)</a:t>
            </a:r>
            <a:endParaRPr/>
          </a:p>
        </p:txBody>
      </p:sp>
      <p:pic>
        <p:nvPicPr>
          <p:cNvPr id="206" name="Shape 206"/>
          <p:cNvPicPr preferRelativeResize="0"/>
          <p:nvPr/>
        </p:nvPicPr>
        <p:blipFill>
          <a:blip r:embed="rId3">
            <a:alphaModFix/>
          </a:blip>
          <a:stretch>
            <a:fillRect/>
          </a:stretch>
        </p:blipFill>
        <p:spPr>
          <a:xfrm>
            <a:off x="1757313" y="2062150"/>
            <a:ext cx="5534025" cy="1019175"/>
          </a:xfrm>
          <a:prstGeom prst="rect">
            <a:avLst/>
          </a:prstGeom>
          <a:noFill/>
          <a:ln>
            <a:noFill/>
          </a:ln>
        </p:spPr>
      </p:pic>
      <p:sp>
        <p:nvSpPr>
          <p:cNvPr id="207" name="Shape 207"/>
          <p:cNvSpPr txBox="1"/>
          <p:nvPr/>
        </p:nvSpPr>
        <p:spPr>
          <a:xfrm>
            <a:off x="968750" y="2143500"/>
            <a:ext cx="76743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FFFFFF"/>
                </a:solidFill>
                <a:latin typeface="Average"/>
                <a:ea typeface="Average"/>
                <a:cs typeface="Average"/>
                <a:sym typeface="Average"/>
              </a:rPr>
              <a:t>Turning the potentiometer will control the speed of the motor’s rotation.</a:t>
            </a:r>
            <a:endParaRPr>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1" name="Shape 211"/>
        <p:cNvGrpSpPr/>
        <p:nvPr/>
      </p:nvGrpSpPr>
      <p:grpSpPr>
        <a:xfrm>
          <a:off x="0" y="0"/>
          <a:ext cx="0" cy="0"/>
          <a:chOff x="0" y="0"/>
          <a:chExt cx="0" cy="0"/>
        </a:xfrm>
      </p:grpSpPr>
      <p:sp>
        <p:nvSpPr>
          <p:cNvPr id="212" name="Shape 21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Extra Task 1:</a:t>
            </a:r>
            <a:endParaRPr/>
          </a:p>
        </p:txBody>
      </p:sp>
      <p:sp>
        <p:nvSpPr>
          <p:cNvPr id="213" name="Shape 213"/>
          <p:cNvSpPr txBox="1"/>
          <p:nvPr>
            <p:ph idx="1" type="body"/>
          </p:nvPr>
        </p:nvSpPr>
        <p:spPr>
          <a:xfrm>
            <a:off x="311700" y="10762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1600"/>
              </a:spcAft>
              <a:buNone/>
            </a:pPr>
            <a:r>
              <a:rPr lang="en">
                <a:solidFill>
                  <a:srgbClr val="FFFFFF"/>
                </a:solidFill>
              </a:rPr>
              <a:t>Create a counter that starts at 0. When button B is pressed, the number on the display is increased by 1. When button A is pressed, the counter is decreased by 1. What happens when the counter becomes negative? Can the microbit show two digit numbers?</a:t>
            </a:r>
            <a:endParaRPr>
              <a:solidFill>
                <a:srgbClr val="FFFFFF"/>
              </a:solidFill>
            </a:endParaRPr>
          </a:p>
        </p:txBody>
      </p:sp>
      <p:pic>
        <p:nvPicPr>
          <p:cNvPr id="214" name="Shape 214"/>
          <p:cNvPicPr preferRelativeResize="0"/>
          <p:nvPr/>
        </p:nvPicPr>
        <p:blipFill>
          <a:blip r:embed="rId3">
            <a:alphaModFix/>
          </a:blip>
          <a:stretch>
            <a:fillRect/>
          </a:stretch>
        </p:blipFill>
        <p:spPr>
          <a:xfrm>
            <a:off x="2827800" y="2223869"/>
            <a:ext cx="3488400" cy="2843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8" name="Shape 218"/>
        <p:cNvGrpSpPr/>
        <p:nvPr/>
      </p:nvGrpSpPr>
      <p:grpSpPr>
        <a:xfrm>
          <a:off x="0" y="0"/>
          <a:ext cx="0" cy="0"/>
          <a:chOff x="0" y="0"/>
          <a:chExt cx="0" cy="0"/>
        </a:xfrm>
      </p:grpSpPr>
      <p:sp>
        <p:nvSpPr>
          <p:cNvPr id="219" name="Shape 2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Extra Task 2:</a:t>
            </a:r>
            <a:endParaRPr/>
          </a:p>
        </p:txBody>
      </p:sp>
      <p:sp>
        <p:nvSpPr>
          <p:cNvPr id="220" name="Shape 2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1600"/>
              </a:spcAft>
              <a:buNone/>
            </a:pPr>
            <a:r>
              <a:rPr lang="en">
                <a:solidFill>
                  <a:srgbClr val="FFFFFF"/>
                </a:solidFill>
              </a:rPr>
              <a:t>Use the compass to tell where North is. Note: you may have to calibrate the compass first.</a:t>
            </a:r>
            <a:endParaRPr>
              <a:solidFill>
                <a:srgbClr val="FFFFFF"/>
              </a:solidFill>
            </a:endParaRPr>
          </a:p>
        </p:txBody>
      </p:sp>
      <p:pic>
        <p:nvPicPr>
          <p:cNvPr id="221" name="Shape 221"/>
          <p:cNvPicPr preferRelativeResize="0"/>
          <p:nvPr/>
        </p:nvPicPr>
        <p:blipFill>
          <a:blip r:embed="rId3">
            <a:alphaModFix/>
          </a:blip>
          <a:stretch>
            <a:fillRect/>
          </a:stretch>
        </p:blipFill>
        <p:spPr>
          <a:xfrm>
            <a:off x="1085850" y="1863775"/>
            <a:ext cx="6972300" cy="2705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5" name="Shape 225"/>
        <p:cNvGrpSpPr/>
        <p:nvPr/>
      </p:nvGrpSpPr>
      <p:grpSpPr>
        <a:xfrm>
          <a:off x="0" y="0"/>
          <a:ext cx="0" cy="0"/>
          <a:chOff x="0" y="0"/>
          <a:chExt cx="0" cy="0"/>
        </a:xfrm>
      </p:grpSpPr>
      <p:sp>
        <p:nvSpPr>
          <p:cNvPr id="226" name="Shape 2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Extra Task 3</a:t>
            </a:r>
            <a:endParaRPr/>
          </a:p>
        </p:txBody>
      </p:sp>
      <p:sp>
        <p:nvSpPr>
          <p:cNvPr id="227" name="Shape 2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1600"/>
              </a:spcAft>
              <a:buNone/>
            </a:pPr>
            <a:r>
              <a:rPr lang="en">
                <a:solidFill>
                  <a:srgbClr val="FFFFFF"/>
                </a:solidFill>
              </a:rPr>
              <a:t>Create a game with the player being represented by a single bright light on the board(9). The player can move around using the buttons or accelerometer. Create enemies as dim lights (2) and have them move towards the player. The game is over if the player touches the enemies.</a:t>
            </a:r>
            <a:endParaRPr>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1" name="Shape 231"/>
        <p:cNvGrpSpPr/>
        <p:nvPr/>
      </p:nvGrpSpPr>
      <p:grpSpPr>
        <a:xfrm>
          <a:off x="0" y="0"/>
          <a:ext cx="0" cy="0"/>
          <a:chOff x="0" y="0"/>
          <a:chExt cx="0" cy="0"/>
        </a:xfrm>
      </p:grpSpPr>
      <p:sp>
        <p:nvSpPr>
          <p:cNvPr id="232" name="Shape 2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Extra Task 4 (Setup 1)</a:t>
            </a:r>
            <a:endParaRPr/>
          </a:p>
        </p:txBody>
      </p:sp>
      <p:sp>
        <p:nvSpPr>
          <p:cNvPr id="233" name="Shape 2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solidFill>
                  <a:srgbClr val="FFFFFF"/>
                </a:solidFill>
              </a:rPr>
              <a:t>This task requires a buzzer, and one button.</a:t>
            </a:r>
            <a:endParaRPr>
              <a:solidFill>
                <a:srgbClr val="FFFFFF"/>
              </a:solidFill>
            </a:endParaRPr>
          </a:p>
          <a:p>
            <a:pPr indent="0" lvl="0" marL="0">
              <a:spcBef>
                <a:spcPts val="1600"/>
              </a:spcBef>
              <a:spcAft>
                <a:spcPts val="1600"/>
              </a:spcAft>
              <a:buNone/>
            </a:pPr>
            <a:r>
              <a:rPr lang="en">
                <a:solidFill>
                  <a:srgbClr val="FFFFFF"/>
                </a:solidFill>
              </a:rPr>
              <a:t>Program the microbit to act as doorbell; when the button is pressed, the buzzer should ring for a certain amount of time. Can you program a way to prevent spamming of the doorbell?</a:t>
            </a:r>
            <a:endParaRPr>
              <a:solidFill>
                <a:srgbClr val="FFFF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7" name="Shape 237"/>
        <p:cNvGrpSpPr/>
        <p:nvPr/>
      </p:nvGrpSpPr>
      <p:grpSpPr>
        <a:xfrm>
          <a:off x="0" y="0"/>
          <a:ext cx="0" cy="0"/>
          <a:chOff x="0" y="0"/>
          <a:chExt cx="0" cy="0"/>
        </a:xfrm>
      </p:grpSpPr>
      <p:sp>
        <p:nvSpPr>
          <p:cNvPr id="238" name="Shape 2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Extra Task 5 (Setup 1)</a:t>
            </a:r>
            <a:endParaRPr/>
          </a:p>
        </p:txBody>
      </p:sp>
      <p:sp>
        <p:nvSpPr>
          <p:cNvPr id="239" name="Shape 2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solidFill>
                  <a:srgbClr val="FFFFFF"/>
                </a:solidFill>
              </a:rPr>
              <a:t>This task requires 1 LDR, a buzzer, and one LED. One or more buttons can also be used.</a:t>
            </a:r>
            <a:endParaRPr>
              <a:solidFill>
                <a:srgbClr val="FFFFFF"/>
              </a:solidFill>
            </a:endParaRPr>
          </a:p>
          <a:p>
            <a:pPr indent="0" lvl="0" marL="0">
              <a:spcBef>
                <a:spcPts val="1600"/>
              </a:spcBef>
              <a:spcAft>
                <a:spcPts val="0"/>
              </a:spcAft>
              <a:buNone/>
            </a:pPr>
            <a:r>
              <a:rPr lang="en">
                <a:solidFill>
                  <a:srgbClr val="FFFFFF"/>
                </a:solidFill>
              </a:rPr>
              <a:t>Program the microbit to act as a security device. When the LDR is blocked, the buzzer should sound and the LED should flash, alerting the user of a potential intruder. Can you program a way to switch off the alarm by pressing the buttons in a certain sequence?</a:t>
            </a:r>
            <a:endParaRPr>
              <a:solidFill>
                <a:srgbClr val="FFFFFF"/>
              </a:solidFill>
            </a:endParaRPr>
          </a:p>
          <a:p>
            <a:pPr indent="0" lvl="0" marL="0" rtl="0">
              <a:spcBef>
                <a:spcPts val="1600"/>
              </a:spcBef>
              <a:spcAft>
                <a:spcPts val="16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3" name="Shape 243"/>
        <p:cNvGrpSpPr/>
        <p:nvPr/>
      </p:nvGrpSpPr>
      <p:grpSpPr>
        <a:xfrm>
          <a:off x="0" y="0"/>
          <a:ext cx="0" cy="0"/>
          <a:chOff x="0" y="0"/>
          <a:chExt cx="0" cy="0"/>
        </a:xfrm>
      </p:grpSpPr>
      <p:sp>
        <p:nvSpPr>
          <p:cNvPr id="244" name="Shape 2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Extra Task 6 (Setup 1)</a:t>
            </a:r>
            <a:endParaRPr/>
          </a:p>
        </p:txBody>
      </p:sp>
      <p:sp>
        <p:nvSpPr>
          <p:cNvPr id="245" name="Shape 2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solidFill>
                  <a:srgbClr val="FFFFFF"/>
                </a:solidFill>
              </a:rPr>
              <a:t>This task requires a buzzer, and few buttons.</a:t>
            </a:r>
            <a:endParaRPr>
              <a:solidFill>
                <a:srgbClr val="FFFFFF"/>
              </a:solidFill>
            </a:endParaRPr>
          </a:p>
          <a:p>
            <a:pPr indent="0" lvl="0" marL="0" rtl="0">
              <a:spcBef>
                <a:spcPts val="1600"/>
              </a:spcBef>
              <a:spcAft>
                <a:spcPts val="1600"/>
              </a:spcAft>
              <a:buNone/>
            </a:pPr>
            <a:r>
              <a:rPr lang="en">
                <a:solidFill>
                  <a:srgbClr val="FFFFFF"/>
                </a:solidFill>
              </a:rPr>
              <a:t>Program the microbit to act as a piano, playing different frequencies when different buttons are pressed. What about playing different frequencies based on how the microbit is tilted?</a:t>
            </a:r>
            <a:endParaRPr>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9" name="Shape 249"/>
        <p:cNvGrpSpPr/>
        <p:nvPr/>
      </p:nvGrpSpPr>
      <p:grpSpPr>
        <a:xfrm>
          <a:off x="0" y="0"/>
          <a:ext cx="0" cy="0"/>
          <a:chOff x="0" y="0"/>
          <a:chExt cx="0" cy="0"/>
        </a:xfrm>
      </p:grpSpPr>
      <p:sp>
        <p:nvSpPr>
          <p:cNvPr id="250" name="Shape 2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Extra Task 7 (Setup 2)</a:t>
            </a:r>
            <a:endParaRPr/>
          </a:p>
        </p:txBody>
      </p:sp>
      <p:sp>
        <p:nvSpPr>
          <p:cNvPr id="251" name="Shape 25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solidFill>
                  <a:srgbClr val="FFFFFF"/>
                </a:solidFill>
              </a:rPr>
              <a:t>This task requires 3 LEDs and a buzzer, and at least one button.</a:t>
            </a:r>
            <a:endParaRPr>
              <a:solidFill>
                <a:srgbClr val="FFFFFF"/>
              </a:solidFill>
            </a:endParaRPr>
          </a:p>
          <a:p>
            <a:pPr indent="0" lvl="0" marL="0" rtl="0">
              <a:spcBef>
                <a:spcPts val="1600"/>
              </a:spcBef>
              <a:spcAft>
                <a:spcPts val="1600"/>
              </a:spcAft>
              <a:buNone/>
            </a:pPr>
            <a:r>
              <a:rPr lang="en">
                <a:solidFill>
                  <a:srgbClr val="FFFFFF"/>
                </a:solidFill>
              </a:rPr>
              <a:t>Program the microbit to act as a traffic light, with the light switching from green, to yellow, then red. If the button (pedestrian crossing) has not been pressed, the light quickly changes from red back to green, but if it has been pressed, the traffic light remains red for the pedestrians to cross. The buzzer will sound while pedestrians are allowed to cross.</a:t>
            </a:r>
            <a:endParaRPr>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5" name="Shape 255"/>
        <p:cNvGrpSpPr/>
        <p:nvPr/>
      </p:nvGrpSpPr>
      <p:grpSpPr>
        <a:xfrm>
          <a:off x="0" y="0"/>
          <a:ext cx="0" cy="0"/>
          <a:chOff x="0" y="0"/>
          <a:chExt cx="0" cy="0"/>
        </a:xfrm>
      </p:grpSpPr>
      <p:sp>
        <p:nvSpPr>
          <p:cNvPr id="256" name="Shape 256"/>
          <p:cNvSpPr txBox="1"/>
          <p:nvPr>
            <p:ph type="title"/>
          </p:nvPr>
        </p:nvSpPr>
        <p:spPr>
          <a:xfrm>
            <a:off x="311700" y="4038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Extra Task 8 (Setup 2)</a:t>
            </a:r>
            <a:endParaRPr/>
          </a:p>
        </p:txBody>
      </p:sp>
      <p:sp>
        <p:nvSpPr>
          <p:cNvPr id="257" name="Shape 25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solidFill>
                  <a:srgbClr val="FFFFFF"/>
                </a:solidFill>
              </a:rPr>
              <a:t>This task uses 3 LEDs and 3 Buttons. </a:t>
            </a:r>
            <a:endParaRPr>
              <a:solidFill>
                <a:srgbClr val="FFFFFF"/>
              </a:solidFill>
            </a:endParaRPr>
          </a:p>
          <a:p>
            <a:pPr indent="0" lvl="0" marL="0">
              <a:spcBef>
                <a:spcPts val="1600"/>
              </a:spcBef>
              <a:spcAft>
                <a:spcPts val="1600"/>
              </a:spcAft>
              <a:buNone/>
            </a:pPr>
            <a:r>
              <a:rPr lang="en">
                <a:solidFill>
                  <a:srgbClr val="FFFFFF"/>
                </a:solidFill>
              </a:rPr>
              <a:t>Program a simple Simon game, and display the player’s score on microbit. Use the buzzer for additional effect.</a:t>
            </a:r>
            <a:endParaRPr>
              <a:solidFill>
                <a:srgbClr val="FFFF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1" name="Shape 261"/>
        <p:cNvGrpSpPr/>
        <p:nvPr/>
      </p:nvGrpSpPr>
      <p:grpSpPr>
        <a:xfrm>
          <a:off x="0" y="0"/>
          <a:ext cx="0" cy="0"/>
          <a:chOff x="0" y="0"/>
          <a:chExt cx="0" cy="0"/>
        </a:xfrm>
      </p:grpSpPr>
      <p:sp>
        <p:nvSpPr>
          <p:cNvPr id="262" name="Shape 2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t>Extra Task 9 (Setup 3)</a:t>
            </a:r>
            <a:endParaRPr/>
          </a:p>
        </p:txBody>
      </p:sp>
      <p:sp>
        <p:nvSpPr>
          <p:cNvPr id="263" name="Shape 26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lang="en">
                <a:solidFill>
                  <a:srgbClr val="FFFFFF"/>
                </a:solidFill>
              </a:rPr>
              <a:t>This task uses the motor and fan.</a:t>
            </a:r>
            <a:endParaRPr>
              <a:solidFill>
                <a:srgbClr val="FFFFFF"/>
              </a:solidFill>
            </a:endParaRPr>
          </a:p>
          <a:p>
            <a:pPr indent="0" lvl="0" marL="0" rtl="0">
              <a:spcBef>
                <a:spcPts val="1600"/>
              </a:spcBef>
              <a:spcAft>
                <a:spcPts val="1600"/>
              </a:spcAft>
              <a:buNone/>
            </a:pPr>
            <a:r>
              <a:rPr lang="en">
                <a:solidFill>
                  <a:srgbClr val="FFFFFF"/>
                </a:solidFill>
              </a:rPr>
              <a:t>Use the accelerometer, compass or light dependant resistor to control the speed of rotation of the fan.</a:t>
            </a:r>
            <a:endParaRPr>
              <a:solidFill>
                <a:srgbClr val="FFFF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7" name="Shape 267"/>
        <p:cNvGrpSpPr/>
        <p:nvPr/>
      </p:nvGrpSpPr>
      <p:grpSpPr>
        <a:xfrm>
          <a:off x="0" y="0"/>
          <a:ext cx="0" cy="0"/>
          <a:chOff x="0" y="0"/>
          <a:chExt cx="0" cy="0"/>
        </a:xfrm>
      </p:grpSpPr>
      <p:sp>
        <p:nvSpPr>
          <p:cNvPr id="268" name="Shape 2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Need more extra tasks?</a:t>
            </a:r>
            <a:endParaRPr/>
          </a:p>
        </p:txBody>
      </p:sp>
      <p:sp>
        <p:nvSpPr>
          <p:cNvPr id="269" name="Shape 269"/>
          <p:cNvSpPr txBox="1"/>
          <p:nvPr>
            <p:ph idx="1" type="body"/>
          </p:nvPr>
        </p:nvSpPr>
        <p:spPr>
          <a:xfrm>
            <a:off x="311700" y="2211175"/>
            <a:ext cx="8520600" cy="1686300"/>
          </a:xfrm>
          <a:prstGeom prst="rect">
            <a:avLst/>
          </a:prstGeom>
        </p:spPr>
        <p:txBody>
          <a:bodyPr anchorCtr="0" anchor="t" bIns="91425" lIns="91425" spcFirstLastPara="1" rIns="91425" wrap="square" tIns="91425">
            <a:noAutofit/>
          </a:bodyPr>
          <a:lstStyle/>
          <a:p>
            <a:pPr indent="0" lvl="0" marL="0" algn="ctr">
              <a:spcBef>
                <a:spcPts val="0"/>
              </a:spcBef>
              <a:spcAft>
                <a:spcPts val="1600"/>
              </a:spcAft>
              <a:buNone/>
            </a:pPr>
            <a:r>
              <a:rPr lang="en" sz="3500" u="sng">
                <a:solidFill>
                  <a:srgbClr val="00FFFF"/>
                </a:solidFill>
              </a:rPr>
              <a:t>http://www.multiwingspan.co.uk/micro.php</a:t>
            </a:r>
            <a:endParaRPr sz="3500" u="sng">
              <a:solidFill>
                <a:srgbClr val="00FF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3" name="Shape 273"/>
        <p:cNvGrpSpPr/>
        <p:nvPr/>
      </p:nvGrpSpPr>
      <p:grpSpPr>
        <a:xfrm>
          <a:off x="0" y="0"/>
          <a:ext cx="0" cy="0"/>
          <a:chOff x="0" y="0"/>
          <a:chExt cx="0" cy="0"/>
        </a:xfrm>
      </p:grpSpPr>
      <p:sp>
        <p:nvSpPr>
          <p:cNvPr id="274" name="Shape 27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One more thing...</a:t>
            </a:r>
            <a:endParaRPr/>
          </a:p>
        </p:txBody>
      </p:sp>
      <p:sp>
        <p:nvSpPr>
          <p:cNvPr id="275" name="Shape 275"/>
          <p:cNvSpPr txBox="1"/>
          <p:nvPr>
            <p:ph idx="1" type="body"/>
          </p:nvPr>
        </p:nvSpPr>
        <p:spPr>
          <a:xfrm>
            <a:off x="311700" y="1939450"/>
            <a:ext cx="8520600" cy="1883100"/>
          </a:xfrm>
          <a:prstGeom prst="rect">
            <a:avLst/>
          </a:prstGeom>
        </p:spPr>
        <p:txBody>
          <a:bodyPr anchorCtr="0" anchor="t" bIns="91425" lIns="91425" spcFirstLastPara="1" rIns="91425" wrap="square" tIns="91425">
            <a:noAutofit/>
          </a:bodyPr>
          <a:lstStyle/>
          <a:p>
            <a:pPr indent="0" lvl="0" marL="0" algn="ctr">
              <a:spcBef>
                <a:spcPts val="0"/>
              </a:spcBef>
              <a:spcAft>
                <a:spcPts val="0"/>
              </a:spcAft>
              <a:buNone/>
            </a:pPr>
            <a:r>
              <a:rPr lang="en" sz="3400">
                <a:solidFill>
                  <a:srgbClr val="FFFFFF"/>
                </a:solidFill>
              </a:rPr>
              <a:t>What if you do not have a micro:bit?</a:t>
            </a:r>
            <a:endParaRPr sz="3400">
              <a:solidFill>
                <a:srgbClr val="FFFFFF"/>
              </a:solidFill>
            </a:endParaRPr>
          </a:p>
          <a:p>
            <a:pPr indent="0" lvl="0" marL="0" rtl="0" algn="ctr">
              <a:spcBef>
                <a:spcPts val="1600"/>
              </a:spcBef>
              <a:spcAft>
                <a:spcPts val="0"/>
              </a:spcAft>
              <a:buNone/>
            </a:pPr>
            <a:r>
              <a:rPr lang="en" sz="3400" u="sng">
                <a:solidFill>
                  <a:schemeClr val="hlink"/>
                </a:solidFill>
                <a:hlinkClick r:id="rId3"/>
              </a:rPr>
              <a:t>https://groklearning.com/</a:t>
            </a:r>
            <a:endParaRPr sz="3400"/>
          </a:p>
          <a:p>
            <a:pPr indent="0" lvl="0" marL="0" algn="ctr">
              <a:spcBef>
                <a:spcPts val="1600"/>
              </a:spcBef>
              <a:spcAft>
                <a:spcPts val="1600"/>
              </a:spcAft>
              <a:buNone/>
            </a:pPr>
            <a:r>
              <a:rPr lang="en" sz="2500"/>
              <a:t> </a:t>
            </a:r>
            <a:endParaRPr sz="25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9" name="Shape 279"/>
        <p:cNvGrpSpPr/>
        <p:nvPr/>
      </p:nvGrpSpPr>
      <p:grpSpPr>
        <a:xfrm>
          <a:off x="0" y="0"/>
          <a:ext cx="0" cy="0"/>
          <a:chOff x="0" y="0"/>
          <a:chExt cx="0" cy="0"/>
        </a:xfrm>
      </p:grpSpPr>
      <p:sp>
        <p:nvSpPr>
          <p:cNvPr id="280" name="Shape 280"/>
          <p:cNvSpPr txBox="1"/>
          <p:nvPr>
            <p:ph idx="1" type="body"/>
          </p:nvPr>
        </p:nvSpPr>
        <p:spPr>
          <a:xfrm>
            <a:off x="311700" y="1630175"/>
            <a:ext cx="8520600" cy="259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solidFill>
                  <a:srgbClr val="FFFFFF"/>
                </a:solidFill>
              </a:rPr>
              <a:t>-   ....   .-   -.   -.-     </a:t>
            </a:r>
            <a:endParaRPr sz="4500">
              <a:solidFill>
                <a:srgbClr val="FFFFFF"/>
              </a:solidFill>
            </a:endParaRPr>
          </a:p>
          <a:p>
            <a:pPr indent="0" lvl="0" marL="0" rtl="0" algn="ctr">
              <a:spcBef>
                <a:spcPts val="1600"/>
              </a:spcBef>
              <a:spcAft>
                <a:spcPts val="0"/>
              </a:spcAft>
              <a:buNone/>
            </a:pPr>
            <a:r>
              <a:t/>
            </a:r>
            <a:endParaRPr sz="4500">
              <a:solidFill>
                <a:srgbClr val="FFFFFF"/>
              </a:solidFill>
            </a:endParaRPr>
          </a:p>
          <a:p>
            <a:pPr indent="0" lvl="0" marL="0" algn="ctr">
              <a:spcBef>
                <a:spcPts val="1600"/>
              </a:spcBef>
              <a:spcAft>
                <a:spcPts val="1600"/>
              </a:spcAft>
              <a:buNone/>
            </a:pPr>
            <a:r>
              <a:rPr lang="en" sz="4500">
                <a:solidFill>
                  <a:srgbClr val="FFFFFF"/>
                </a:solidFill>
              </a:rPr>
              <a:t>-.--   ---   ..-</a:t>
            </a:r>
            <a:endParaRPr sz="4500">
              <a:solidFill>
                <a:srgbClr val="FFFFFF"/>
              </a:solidFill>
            </a:endParaRPr>
          </a:p>
        </p:txBody>
      </p:sp>
      <p:sp>
        <p:nvSpPr>
          <p:cNvPr id="281" name="Shape 281"/>
          <p:cNvSpPr txBox="1"/>
          <p:nvPr/>
        </p:nvSpPr>
        <p:spPr>
          <a:xfrm>
            <a:off x="2304750" y="1058700"/>
            <a:ext cx="4534500" cy="25389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None/>
            </a:pPr>
            <a:r>
              <a:rPr lang="en" sz="4500">
                <a:solidFill>
                  <a:srgbClr val="FFFFFF"/>
                </a:solidFill>
                <a:latin typeface="Handlee"/>
                <a:ea typeface="Handlee"/>
                <a:cs typeface="Handlee"/>
                <a:sym typeface="Handlee"/>
              </a:rPr>
              <a:t>    </a:t>
            </a:r>
            <a:r>
              <a:rPr lang="en" sz="4500">
                <a:solidFill>
                  <a:srgbClr val="FFFFFF"/>
                </a:solidFill>
                <a:latin typeface="Economica"/>
                <a:ea typeface="Economica"/>
                <a:cs typeface="Economica"/>
                <a:sym typeface="Economica"/>
              </a:rPr>
              <a:t> </a:t>
            </a:r>
            <a:r>
              <a:rPr lang="en" sz="4500">
                <a:solidFill>
                  <a:srgbClr val="FFFFFF"/>
                </a:solidFill>
                <a:latin typeface="Economica"/>
                <a:ea typeface="Economica"/>
                <a:cs typeface="Economica"/>
                <a:sym typeface="Economica"/>
              </a:rPr>
              <a:t>T    H     A    N     K</a:t>
            </a:r>
            <a:endParaRPr sz="4500">
              <a:solidFill>
                <a:srgbClr val="FFFFFF"/>
              </a:solidFill>
              <a:latin typeface="Economica"/>
              <a:ea typeface="Economica"/>
              <a:cs typeface="Economica"/>
              <a:sym typeface="Economica"/>
            </a:endParaRPr>
          </a:p>
          <a:p>
            <a:pPr indent="0" lvl="0" marL="0">
              <a:spcBef>
                <a:spcPts val="0"/>
              </a:spcBef>
              <a:spcAft>
                <a:spcPts val="0"/>
              </a:spcAft>
              <a:buNone/>
            </a:pPr>
            <a:r>
              <a:t/>
            </a:r>
            <a:endParaRPr sz="4500">
              <a:solidFill>
                <a:srgbClr val="FFFFFF"/>
              </a:solidFill>
              <a:latin typeface="Economica"/>
              <a:ea typeface="Economica"/>
              <a:cs typeface="Economica"/>
              <a:sym typeface="Economica"/>
            </a:endParaRPr>
          </a:p>
          <a:p>
            <a:pPr indent="0" lvl="0" marL="0">
              <a:spcBef>
                <a:spcPts val="0"/>
              </a:spcBef>
              <a:spcAft>
                <a:spcPts val="0"/>
              </a:spcAft>
              <a:buNone/>
            </a:pPr>
            <a:r>
              <a:rPr lang="en" sz="4500">
                <a:solidFill>
                  <a:srgbClr val="FFFFFF"/>
                </a:solidFill>
                <a:latin typeface="Economica"/>
                <a:ea typeface="Economica"/>
                <a:cs typeface="Economica"/>
                <a:sym typeface="Economica"/>
              </a:rPr>
              <a:t>        </a:t>
            </a:r>
            <a:endParaRPr sz="4500">
              <a:solidFill>
                <a:srgbClr val="FFFFFF"/>
              </a:solidFill>
              <a:latin typeface="Economica"/>
              <a:ea typeface="Economica"/>
              <a:cs typeface="Economica"/>
              <a:sym typeface="Economica"/>
            </a:endParaRPr>
          </a:p>
          <a:p>
            <a:pPr indent="0" lvl="0" marL="0">
              <a:spcBef>
                <a:spcPts val="0"/>
              </a:spcBef>
              <a:spcAft>
                <a:spcPts val="0"/>
              </a:spcAft>
              <a:buNone/>
            </a:pPr>
            <a:r>
              <a:rPr lang="en" sz="4500">
                <a:solidFill>
                  <a:srgbClr val="FFFFFF"/>
                </a:solidFill>
                <a:latin typeface="Economica"/>
                <a:ea typeface="Economica"/>
                <a:cs typeface="Economica"/>
                <a:sym typeface="Economica"/>
              </a:rPr>
              <a:t>           Y       O      U</a:t>
            </a:r>
            <a:endParaRPr sz="4500">
              <a:solidFill>
                <a:srgbClr val="FFFFFF"/>
              </a:solidFill>
              <a:latin typeface="Economica"/>
              <a:ea typeface="Economica"/>
              <a:cs typeface="Economica"/>
              <a:sym typeface="Economic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5" name="Shape 285"/>
        <p:cNvGrpSpPr/>
        <p:nvPr/>
      </p:nvGrpSpPr>
      <p:grpSpPr>
        <a:xfrm>
          <a:off x="0" y="0"/>
          <a:ext cx="0" cy="0"/>
          <a:chOff x="0" y="0"/>
          <a:chExt cx="0" cy="0"/>
        </a:xfrm>
      </p:grpSpPr>
      <p:sp>
        <p:nvSpPr>
          <p:cNvPr id="286" name="Shape 28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How to Contact Us:</a:t>
            </a:r>
            <a:endParaRPr/>
          </a:p>
        </p:txBody>
      </p:sp>
      <p:sp>
        <p:nvSpPr>
          <p:cNvPr id="287" name="Shape 287"/>
          <p:cNvSpPr txBox="1"/>
          <p:nvPr>
            <p:ph idx="1" type="body"/>
          </p:nvPr>
        </p:nvSpPr>
        <p:spPr>
          <a:xfrm>
            <a:off x="311700" y="1571050"/>
            <a:ext cx="8520600" cy="29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Gi Soong Chee: </a:t>
            </a:r>
            <a:r>
              <a:rPr lang="en" sz="3400" u="sng">
                <a:solidFill>
                  <a:schemeClr val="hlink"/>
                </a:solidFill>
                <a:hlinkClick r:id="rId3"/>
              </a:rPr>
              <a:t>gi.soongchee@dhs.sg</a:t>
            </a:r>
            <a:endParaRPr sz="3400"/>
          </a:p>
          <a:p>
            <a:pPr indent="0" lvl="0" marL="0" algn="ctr">
              <a:spcBef>
                <a:spcPts val="1600"/>
              </a:spcBef>
              <a:spcAft>
                <a:spcPts val="0"/>
              </a:spcAft>
              <a:buNone/>
            </a:pPr>
            <a:r>
              <a:rPr lang="en" sz="3400"/>
              <a:t>Wang Siyin: </a:t>
            </a:r>
            <a:r>
              <a:rPr lang="en" sz="3400" u="sng">
                <a:solidFill>
                  <a:schemeClr val="accent5"/>
                </a:solidFill>
              </a:rPr>
              <a:t>wang.siyin@dhs.sg</a:t>
            </a:r>
            <a:endParaRPr sz="3400" u="sng">
              <a:solidFill>
                <a:schemeClr val="accent5"/>
              </a:solidFill>
            </a:endParaRPr>
          </a:p>
          <a:p>
            <a:pPr indent="0" lvl="0" marL="0" algn="ctr">
              <a:spcBef>
                <a:spcPts val="1600"/>
              </a:spcBef>
              <a:spcAft>
                <a:spcPts val="1600"/>
              </a:spcAft>
              <a:buNone/>
            </a:pPr>
            <a:r>
              <a:rPr lang="en" sz="3400"/>
              <a:t>Wee He-kun: </a:t>
            </a:r>
            <a:r>
              <a:rPr lang="en" sz="3400" u="sng">
                <a:solidFill>
                  <a:schemeClr val="accent5"/>
                </a:solidFill>
              </a:rPr>
              <a:t>wee.hekun@dhs.sg</a:t>
            </a:r>
            <a:endParaRPr sz="3400" u="sng">
              <a:solidFill>
                <a:schemeClr val="accent5"/>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