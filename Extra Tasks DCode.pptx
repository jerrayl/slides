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Shape 5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8" name="Shape 5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Shape 6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4" name="Shape 6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 name="Shape 68"/>
        <p:cNvGrpSpPr/>
        <p:nvPr/>
      </p:nvGrpSpPr>
      <p:grpSpPr>
        <a:xfrm>
          <a:off x="0" y="0"/>
          <a:ext cx="0" cy="0"/>
          <a:chOff x="0" y="0"/>
          <a:chExt cx="0" cy="0"/>
        </a:xfrm>
      </p:grpSpPr>
      <p:sp>
        <p:nvSpPr>
          <p:cNvPr id="69" name="Shape 6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0" name="Shape 7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Shape 7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6" name="Shape 76"/>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Shape 8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2" name="Shape 82"/>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Shape 8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8" name="Shape 88"/>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Shape 9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4" name="Shape 94"/>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Shape 9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0" name="Shape 100"/>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
  <p:cSld name="Title slide">
    <p:spTree>
      <p:nvGrpSpPr>
        <p:cNvPr id="9" name="Shape 9"/>
        <p:cNvGrpSpPr/>
        <p:nvPr/>
      </p:nvGrpSpPr>
      <p:grpSpPr>
        <a:xfrm>
          <a:off x="0" y="0"/>
          <a:ext cx="0" cy="0"/>
          <a:chOff x="0" y="0"/>
          <a:chExt cx="0" cy="0"/>
        </a:xfrm>
      </p:grpSpPr>
      <p:sp>
        <p:nvSpPr>
          <p:cNvPr id="10" name="Shape 10"/>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Shape 11"/>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Shape 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secHead">
  <p:cSld name="Section header">
    <p:spTree>
      <p:nvGrpSpPr>
        <p:cNvPr id="13" name="Shape 13"/>
        <p:cNvGrpSpPr/>
        <p:nvPr/>
      </p:nvGrpSpPr>
      <p:grpSpPr>
        <a:xfrm>
          <a:off x="0" y="0"/>
          <a:ext cx="0" cy="0"/>
          <a:chOff x="0" y="0"/>
          <a:chExt cx="0" cy="0"/>
        </a:xfrm>
      </p:grpSpPr>
      <p:sp>
        <p:nvSpPr>
          <p:cNvPr id="14" name="Shape 14"/>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Shape 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Shape 18"/>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Shape 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woColTx">
  <p:cSld name="Title and two columns">
    <p:spTree>
      <p:nvGrpSpPr>
        <p:cNvPr id="20" name="Shape 20"/>
        <p:cNvGrpSpPr/>
        <p:nvPr/>
      </p:nvGrpSpPr>
      <p:grpSpPr>
        <a:xfrm>
          <a:off x="0" y="0"/>
          <a:ext cx="0" cy="0"/>
          <a:chOff x="0" y="0"/>
          <a:chExt cx="0" cy="0"/>
        </a:xfrm>
      </p:grpSpPr>
      <p:sp>
        <p:nvSpPr>
          <p:cNvPr id="21" name="Shape 21"/>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Shape 22"/>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Shape 23"/>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Shape 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Shape 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One column text">
    <p:spTree>
      <p:nvGrpSpPr>
        <p:cNvPr id="28" name="Shape 28"/>
        <p:cNvGrpSpPr/>
        <p:nvPr/>
      </p:nvGrpSpPr>
      <p:grpSpPr>
        <a:xfrm>
          <a:off x="0" y="0"/>
          <a:ext cx="0" cy="0"/>
          <a:chOff x="0" y="0"/>
          <a:chExt cx="0" cy="0"/>
        </a:xfrm>
      </p:grpSpPr>
      <p:sp>
        <p:nvSpPr>
          <p:cNvPr id="29" name="Shape 29"/>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Shape 30"/>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Shape 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ain point">
    <p:spTree>
      <p:nvGrpSpPr>
        <p:cNvPr id="32" name="Shape 32"/>
        <p:cNvGrpSpPr/>
        <p:nvPr/>
      </p:nvGrpSpPr>
      <p:grpSpPr>
        <a:xfrm>
          <a:off x="0" y="0"/>
          <a:ext cx="0" cy="0"/>
          <a:chOff x="0" y="0"/>
          <a:chExt cx="0" cy="0"/>
        </a:xfrm>
      </p:grpSpPr>
      <p:sp>
        <p:nvSpPr>
          <p:cNvPr id="33" name="Shape 33"/>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Shape 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ection title and description">
    <p:spTree>
      <p:nvGrpSpPr>
        <p:cNvPr id="35"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37" name="Shape 37"/>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Shape 38"/>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Shape 3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Shape 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Shape 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Big number">
    <p:spTree>
      <p:nvGrpSpPr>
        <p:cNvPr id="44" name="Shape 44"/>
        <p:cNvGrpSpPr/>
        <p:nvPr/>
      </p:nvGrpSpPr>
      <p:grpSpPr>
        <a:xfrm>
          <a:off x="0" y="0"/>
          <a:ext cx="0" cy="0"/>
          <a:chOff x="0" y="0"/>
          <a:chExt cx="0" cy="0"/>
        </a:xfrm>
      </p:grpSpPr>
      <p:sp>
        <p:nvSpPr>
          <p:cNvPr id="45" name="Shape 45"/>
          <p:cNvSpPr txBox="1"/>
          <p:nvPr>
            <p:ph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p:txBody>
      </p:sp>
      <p:sp>
        <p:nvSpPr>
          <p:cNvPr id="46" name="Shape 46"/>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Shape 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blank">
  <p:cSld name="Blank">
    <p:spTree>
      <p:nvGrpSpPr>
        <p:cNvPr id="48" name="Shape 48"/>
        <p:cNvGrpSpPr/>
        <p:nvPr/>
      </p:nvGrpSpPr>
      <p:grpSpPr>
        <a:xfrm>
          <a:off x="0" y="0"/>
          <a:ext cx="0" cy="0"/>
          <a:chOff x="0" y="0"/>
          <a:chExt cx="0" cy="0"/>
        </a:xfrm>
      </p:grpSpPr>
      <p:sp>
        <p:nvSpPr>
          <p:cNvPr id="49" name="Shape 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Shape 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spcBef>
                <a:spcPts val="0"/>
              </a:spcBef>
              <a:buNone/>
              <a:defRPr sz="1000">
                <a:solidFill>
                  <a:schemeClr val="dk2"/>
                </a:solidFill>
              </a:defRPr>
            </a:lvl1pPr>
            <a:lvl2pPr lvl="1" algn="r">
              <a:spcBef>
                <a:spcPts val="0"/>
              </a:spcBef>
              <a:buNone/>
              <a:defRPr sz="1000">
                <a:solidFill>
                  <a:schemeClr val="dk2"/>
                </a:solidFill>
              </a:defRPr>
            </a:lvl2pPr>
            <a:lvl3pPr lvl="2" algn="r">
              <a:spcBef>
                <a:spcPts val="0"/>
              </a:spcBef>
              <a:buNone/>
              <a:defRPr sz="1000">
                <a:solidFill>
                  <a:schemeClr val="dk2"/>
                </a:solidFill>
              </a:defRPr>
            </a:lvl3pPr>
            <a:lvl4pPr lvl="3" algn="r">
              <a:spcBef>
                <a:spcPts val="0"/>
              </a:spcBef>
              <a:buNone/>
              <a:defRPr sz="1000">
                <a:solidFill>
                  <a:schemeClr val="dk2"/>
                </a:solidFill>
              </a:defRPr>
            </a:lvl4pPr>
            <a:lvl5pPr lvl="4" algn="r">
              <a:spcBef>
                <a:spcPts val="0"/>
              </a:spcBef>
              <a:buNone/>
              <a:defRPr sz="1000">
                <a:solidFill>
                  <a:schemeClr val="dk2"/>
                </a:solidFill>
              </a:defRPr>
            </a:lvl5pPr>
            <a:lvl6pPr lvl="5" algn="r">
              <a:spcBef>
                <a:spcPts val="0"/>
              </a:spcBef>
              <a:buNone/>
              <a:defRPr sz="1000">
                <a:solidFill>
                  <a:schemeClr val="dk2"/>
                </a:solidFill>
              </a:defRPr>
            </a:lvl6pPr>
            <a:lvl7pPr lvl="6" algn="r">
              <a:spcBef>
                <a:spcPts val="0"/>
              </a:spcBef>
              <a:buNone/>
              <a:defRPr sz="1000">
                <a:solidFill>
                  <a:schemeClr val="dk2"/>
                </a:solidFill>
              </a:defRPr>
            </a:lvl7pPr>
            <a:lvl8pPr lvl="7" algn="r">
              <a:spcBef>
                <a:spcPts val="0"/>
              </a:spcBef>
              <a:buNone/>
              <a:defRPr sz="1000">
                <a:solidFill>
                  <a:schemeClr val="dk2"/>
                </a:solidFill>
              </a:defRPr>
            </a:lvl8pPr>
            <a:lvl9pPr lvl="8" algn="r">
              <a:spcBef>
                <a:spcPts val="0"/>
              </a:spcBef>
              <a:buNone/>
              <a:defRPr sz="1000">
                <a:solidFill>
                  <a:schemeClr val="dk2"/>
                </a:solidFill>
              </a:defRPr>
            </a:lvl9pPr>
          </a:lstStyle>
          <a:p>
            <a:pPr indent="0" lvl="0" marL="0">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morsecode.scphillips.com/translator.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nowlands.ru/images/pages/bsv-standard_bootscreen.gi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Shape 5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a:spcBef>
                <a:spcPts val="0"/>
              </a:spcBef>
              <a:spcAft>
                <a:spcPts val="0"/>
              </a:spcAft>
              <a:buNone/>
            </a:pPr>
            <a:r>
              <a:rPr lang="en"/>
              <a:t>Extra tasks</a:t>
            </a:r>
            <a:endParaRPr/>
          </a:p>
        </p:txBody>
      </p:sp>
      <p:sp>
        <p:nvSpPr>
          <p:cNvPr id="55" name="Shape 5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Shape 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Types of tasks	</a:t>
            </a:r>
            <a:endParaRPr/>
          </a:p>
        </p:txBody>
      </p:sp>
      <p:sp>
        <p:nvSpPr>
          <p:cNvPr id="61" name="Shape 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Fun-Just to play with whatever you have</a:t>
            </a:r>
            <a:endParaRPr/>
          </a:p>
          <a:p>
            <a:pPr indent="0" lvl="0" marL="0">
              <a:spcBef>
                <a:spcPts val="1600"/>
              </a:spcBef>
              <a:spcAft>
                <a:spcPts val="0"/>
              </a:spcAft>
              <a:buNone/>
            </a:pPr>
            <a:r>
              <a:rPr lang="en"/>
              <a:t>Level 0-A small step. Probably done with only a few lines to the code</a:t>
            </a:r>
            <a:endParaRPr/>
          </a:p>
          <a:p>
            <a:pPr indent="0" lvl="0" marL="0">
              <a:spcBef>
                <a:spcPts val="1600"/>
              </a:spcBef>
              <a:spcAft>
                <a:spcPts val="0"/>
              </a:spcAft>
              <a:buNone/>
            </a:pPr>
            <a:r>
              <a:rPr lang="en"/>
              <a:t>Level 1-Slightly tougher, may need alterations to the circuit/code</a:t>
            </a:r>
            <a:endParaRPr/>
          </a:p>
          <a:p>
            <a:pPr indent="0" lvl="0" marL="0">
              <a:spcBef>
                <a:spcPts val="1600"/>
              </a:spcBef>
              <a:spcAft>
                <a:spcPts val="0"/>
              </a:spcAft>
              <a:buNone/>
            </a:pPr>
            <a:r>
              <a:rPr lang="en"/>
              <a:t>Level 2-Moderate challenge. Not so hard to pose a challenge, but it is meant to be a big step forward.</a:t>
            </a:r>
            <a:endParaRPr/>
          </a:p>
          <a:p>
            <a:pPr indent="0" lvl="0" marL="0">
              <a:spcBef>
                <a:spcPts val="1600"/>
              </a:spcBef>
              <a:spcAft>
                <a:spcPts val="0"/>
              </a:spcAft>
              <a:buNone/>
            </a:pPr>
            <a:r>
              <a:rPr lang="en"/>
              <a:t>Level 3-Challenging. May need knowledge of circuits and/or programming.</a:t>
            </a:r>
            <a:endParaRPr/>
          </a:p>
          <a:p>
            <a:pPr indent="0" lvl="0" marL="0">
              <a:spcBef>
                <a:spcPts val="1600"/>
              </a:spcBef>
              <a:spcAft>
                <a:spcPts val="1600"/>
              </a:spcAft>
              <a:buNone/>
            </a:pPr>
            <a:r>
              <a:rPr lang="en"/>
              <a:t>Level ∞-Rule the world with your raspberry pi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Shape 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Tips</a:t>
            </a:r>
            <a:endParaRPr/>
          </a:p>
        </p:txBody>
      </p:sp>
      <p:sp>
        <p:nvSpPr>
          <p:cNvPr id="67" name="Shape 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If program is stuck in infinite loop, press Ctrl-C</a:t>
            </a:r>
            <a:endParaRPr/>
          </a:p>
          <a:p>
            <a:pPr indent="0" lvl="0" marL="0">
              <a:spcBef>
                <a:spcPts val="1600"/>
              </a:spcBef>
              <a:spcAft>
                <a:spcPts val="0"/>
              </a:spcAft>
              <a:buNone/>
            </a:pPr>
            <a:r>
              <a:rPr lang="en"/>
              <a:t>Try not to pass raw current to LEDs, they burn easily. Connect a resistor in between.</a:t>
            </a:r>
            <a:endParaRPr/>
          </a:p>
          <a:p>
            <a:pPr indent="0" lvl="0" marL="0">
              <a:spcBef>
                <a:spcPts val="1600"/>
              </a:spcBef>
              <a:spcAft>
                <a:spcPts val="0"/>
              </a:spcAft>
              <a:buNone/>
            </a:pPr>
            <a:r>
              <a:rPr lang="en"/>
              <a:t>If LED doesn’t seem to light up, try to reconnect it in the other direction. Remember, LED are one way only.</a:t>
            </a:r>
            <a:endParaRPr/>
          </a:p>
          <a:p>
            <a:pPr indent="0" lvl="0" marL="0">
              <a:spcBef>
                <a:spcPts val="1600"/>
              </a:spcBef>
              <a:spcAft>
                <a:spcPts val="0"/>
              </a:spcAft>
              <a:buNone/>
            </a:pPr>
            <a:r>
              <a:rPr lang="en"/>
              <a:t>Please be careful with the raspberry pi. Try not to eat them no matter how hungry you are and don’t damage them.</a:t>
            </a:r>
            <a:endParaRPr/>
          </a:p>
          <a:p>
            <a:pPr indent="0" lvl="0" marL="0">
              <a:spcBef>
                <a:spcPts val="1600"/>
              </a:spcBef>
              <a:spcAft>
                <a:spcPts val="1600"/>
              </a:spcAft>
              <a:buNone/>
            </a:pPr>
            <a:r>
              <a:rPr lang="en"/>
              <a:t>Spoilers are provided to give hints on how to do some tasks. The spoilers are white, so select the text to read them.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1" name="Shape 71"/>
        <p:cNvGrpSpPr/>
        <p:nvPr/>
      </p:nvGrpSpPr>
      <p:grpSpPr>
        <a:xfrm>
          <a:off x="0" y="0"/>
          <a:ext cx="0" cy="0"/>
          <a:chOff x="0" y="0"/>
          <a:chExt cx="0" cy="0"/>
        </a:xfrm>
      </p:grpSpPr>
      <p:sp>
        <p:nvSpPr>
          <p:cNvPr id="72" name="Shape 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Morse Code (Fun)</a:t>
            </a:r>
            <a:endParaRPr/>
          </a:p>
        </p:txBody>
      </p:sp>
      <p:sp>
        <p:nvSpPr>
          <p:cNvPr id="73" name="Shape 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Setup: 1 LED, 1 button.</a:t>
            </a:r>
            <a:endParaRPr/>
          </a:p>
          <a:p>
            <a:pPr indent="0" lvl="0" marL="0">
              <a:spcBef>
                <a:spcPts val="1600"/>
              </a:spcBef>
              <a:spcAft>
                <a:spcPts val="0"/>
              </a:spcAft>
              <a:buNone/>
            </a:pPr>
            <a:r>
              <a:rPr lang="en"/>
              <a:t>Run a script which lights up the LED when the button is pushed. Try to communicate with someone using Morse code on this setup. You can convert text to Morse code </a:t>
            </a:r>
            <a:r>
              <a:rPr lang="en" u="sng">
                <a:solidFill>
                  <a:schemeClr val="hlink"/>
                </a:solidFill>
                <a:hlinkClick r:id="rId3"/>
              </a:rPr>
              <a:t>here</a:t>
            </a:r>
            <a:endParaRPr/>
          </a:p>
          <a:p>
            <a:pPr indent="0" lvl="0" marL="0">
              <a:spcBef>
                <a:spcPts val="1600"/>
              </a:spcBef>
              <a:spcAft>
                <a:spcPts val="1600"/>
              </a:spcAft>
              <a:buNone/>
            </a:pPr>
            <a:r>
              <a:rPr lang="en"/>
              <a:t>.-. .--. .. / .. ... / ..-. ..-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Shape 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Toggle mode switch (Level 0-1)</a:t>
            </a:r>
            <a:endParaRPr/>
          </a:p>
        </p:txBody>
      </p:sp>
      <p:sp>
        <p:nvSpPr>
          <p:cNvPr id="79" name="Shape 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Setup: 1 LED, 1 button</a:t>
            </a:r>
            <a:endParaRPr/>
          </a:p>
          <a:p>
            <a:pPr indent="0" lvl="0" marL="0">
              <a:spcBef>
                <a:spcPts val="1600"/>
              </a:spcBef>
              <a:spcAft>
                <a:spcPts val="0"/>
              </a:spcAft>
              <a:buNone/>
            </a:pPr>
            <a:r>
              <a:rPr lang="en"/>
              <a:t>Modify your script such that instead of holding the button to on the light, the button is a trigger which you press once to light the LED and press another time to turn off.</a:t>
            </a:r>
            <a:endParaRPr/>
          </a:p>
          <a:p>
            <a:pPr indent="0" lvl="0" marL="0">
              <a:spcBef>
                <a:spcPts val="1600"/>
              </a:spcBef>
              <a:spcAft>
                <a:spcPts val="1600"/>
              </a:spcAft>
              <a:buNone/>
            </a:pPr>
            <a:r>
              <a:rPr lang="en">
                <a:solidFill>
                  <a:srgbClr val="000000"/>
                </a:solidFill>
              </a:rPr>
              <a:t>Spoilers:</a:t>
            </a:r>
            <a:r>
              <a:rPr lang="en">
                <a:solidFill>
                  <a:srgbClr val="F3F3F3"/>
                </a:solidFill>
              </a:rPr>
              <a:t> You can use a variable to store the state of a button, and additionally you can switch the on-off state of the LED only when you detect that the button was pushed, released then pushed again.</a:t>
            </a:r>
            <a:endParaRPr>
              <a:solidFill>
                <a:srgbClr val="F3F3F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 name="Shape 83"/>
        <p:cNvGrpSpPr/>
        <p:nvPr/>
      </p:nvGrpSpPr>
      <p:grpSpPr>
        <a:xfrm>
          <a:off x="0" y="0"/>
          <a:ext cx="0" cy="0"/>
          <a:chOff x="0" y="0"/>
          <a:chExt cx="0" cy="0"/>
        </a:xfrm>
      </p:grpSpPr>
      <p:sp>
        <p:nvSpPr>
          <p:cNvPr id="84" name="Shape 8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Traffic Light (Level 0-Level 3)</a:t>
            </a:r>
            <a:endParaRPr/>
          </a:p>
        </p:txBody>
      </p:sp>
      <p:sp>
        <p:nvSpPr>
          <p:cNvPr id="85" name="Shape 8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Setup: 3 LEDs</a:t>
            </a:r>
            <a:endParaRPr/>
          </a:p>
          <a:p>
            <a:pPr indent="0" lvl="0" marL="0">
              <a:spcBef>
                <a:spcPts val="1600"/>
              </a:spcBef>
              <a:spcAft>
                <a:spcPts val="1600"/>
              </a:spcAft>
              <a:buNone/>
            </a:pPr>
            <a:r>
              <a:rPr lang="en"/>
              <a:t>Create your script to make the 3 LEDs light up at different time. Perhaps random? Maybe try to emulate an actual traffic light? Or maybe make a rave party with the traffic light. Either way, with 3 LEDs you can have fun with them despite the seemingly simple circuit.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Shape 9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Loading Bar (Level 0-1)</a:t>
            </a:r>
            <a:endParaRPr/>
          </a:p>
        </p:txBody>
      </p:sp>
      <p:sp>
        <p:nvSpPr>
          <p:cNvPr id="91" name="Shape 9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Setup: 4 LEDs</a:t>
            </a:r>
            <a:endParaRPr/>
          </a:p>
          <a:p>
            <a:pPr indent="0" lvl="0" marL="0">
              <a:spcBef>
                <a:spcPts val="1600"/>
              </a:spcBef>
              <a:spcAft>
                <a:spcPts val="0"/>
              </a:spcAft>
              <a:buNone/>
            </a:pPr>
            <a:r>
              <a:rPr lang="en"/>
              <a:t>Do you feel Windows loading bars are annoying? In that case, why not make your own? Guaranteed to be fun (Disclaimer: Fun here refers to a limited definition of fun and the maker of this task is in no way liable if you do not feel it is fun)</a:t>
            </a:r>
            <a:endParaRPr/>
          </a:p>
          <a:p>
            <a:pPr indent="0" lvl="0" marL="0">
              <a:spcBef>
                <a:spcPts val="1600"/>
              </a:spcBef>
              <a:spcAft>
                <a:spcPts val="1600"/>
              </a:spcAft>
              <a:buNone/>
            </a:pPr>
            <a:r>
              <a:rPr lang="en"/>
              <a:t>Spoiler:</a:t>
            </a:r>
            <a:r>
              <a:rPr lang="en">
                <a:solidFill>
                  <a:srgbClr val="F3F3F3"/>
                </a:solidFill>
              </a:rPr>
              <a:t> Start with no LED lighted, after a while light the first one, then the second, and so on. At the end perhaps turn off the LEDs or just leave it filled until you kill the program</a:t>
            </a:r>
            <a:endParaRPr>
              <a:solidFill>
                <a:srgbClr val="F3F3F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Shape 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Waiting bar (Level 0-1)</a:t>
            </a:r>
            <a:endParaRPr/>
          </a:p>
        </p:txBody>
      </p:sp>
      <p:sp>
        <p:nvSpPr>
          <p:cNvPr id="97" name="Shape 9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Setup: 4 LEDs</a:t>
            </a:r>
            <a:endParaRPr/>
          </a:p>
          <a:p>
            <a:pPr indent="0" lvl="0" marL="0">
              <a:spcBef>
                <a:spcPts val="1600"/>
              </a:spcBef>
              <a:spcAft>
                <a:spcPts val="0"/>
              </a:spcAft>
              <a:buNone/>
            </a:pPr>
            <a:r>
              <a:rPr lang="en"/>
              <a:t>Back in the days when we were still running Windows XP, during booting we would always see </a:t>
            </a:r>
            <a:r>
              <a:rPr lang="en" u="sng">
                <a:solidFill>
                  <a:schemeClr val="hlink"/>
                </a:solidFill>
                <a:hlinkClick r:id="rId3"/>
              </a:rPr>
              <a:t>this animation.</a:t>
            </a:r>
            <a:r>
              <a:rPr lang="en"/>
              <a:t> Implement that bar using the LEDs and the Raspberry Pi. Though admittedly your waiting bar seem to last forever with no end in sight but its a first step for you.</a:t>
            </a:r>
            <a:endParaRPr/>
          </a:p>
          <a:p>
            <a:pPr indent="0" lvl="0" marL="0">
              <a:spcBef>
                <a:spcPts val="1600"/>
              </a:spcBef>
              <a:spcAft>
                <a:spcPts val="1600"/>
              </a:spcAft>
              <a:buNone/>
            </a:pPr>
            <a:r>
              <a:rPr lang="en"/>
              <a:t>Spoiler: </a:t>
            </a:r>
            <a:r>
              <a:rPr lang="en">
                <a:solidFill>
                  <a:srgbClr val="EFEFEF"/>
                </a:solidFill>
              </a:rPr>
              <a:t>Light up the first LED, then turn it off and turn on the next LED after a while, and so on, until the last LED, in which you turn on the first LED and turn off the last LED. The cycle repeats.</a:t>
            </a:r>
            <a:endParaRPr>
              <a:solidFill>
                <a:srgbClr val="EFEFE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Shape 10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Button masher (Level 2)</a:t>
            </a:r>
            <a:endParaRPr/>
          </a:p>
        </p:txBody>
      </p:sp>
      <p:sp>
        <p:nvSpPr>
          <p:cNvPr id="103" name="Shape 10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
              <a:t>Setup: 4 (or 3) LEDs, 1 button</a:t>
            </a:r>
            <a:endParaRPr/>
          </a:p>
          <a:p>
            <a:pPr indent="0" lvl="0" marL="0">
              <a:spcBef>
                <a:spcPts val="1600"/>
              </a:spcBef>
              <a:spcAft>
                <a:spcPts val="0"/>
              </a:spcAft>
              <a:buNone/>
            </a:pPr>
            <a:r>
              <a:rPr lang="en"/>
              <a:t>Oh no. The maker of this task has become addicted to cookieclicker. Why not create a circuit similar to cookieclicker. Light up 1 LED after a button click, then light up the next one on the second button click, and so on, until all LEDs have been lighted up, before turning them all off after the next button push and this continues.</a:t>
            </a:r>
            <a:endParaRPr/>
          </a:p>
          <a:p>
            <a:pPr indent="0" lvl="0" marL="0">
              <a:spcBef>
                <a:spcPts val="1600"/>
              </a:spcBef>
              <a:spcAft>
                <a:spcPts val="1600"/>
              </a:spcAft>
              <a:buNone/>
            </a:pPr>
            <a:r>
              <a:rPr lang="en"/>
              <a:t>You might want to do </a:t>
            </a:r>
            <a:r>
              <a:rPr b="1" lang="en"/>
              <a:t>toggle mode switch </a:t>
            </a:r>
            <a:r>
              <a:rPr lang="en"/>
              <a:t>before attempting this since the button is used as a toggle button here too.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