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Ubuntu"/>
      <p:regular r:id="rId49"/>
      <p:bold r:id="rId50"/>
      <p:italic r:id="rId51"/>
      <p:boldItalic r:id="rId52"/>
    </p:embeddedFont>
    <p:embeddedFont>
      <p:font typeface="Average"/>
      <p:regular r:id="rId53"/>
    </p:embeddedFont>
    <p:embeddedFont>
      <p:font typeface="Oswald"/>
      <p:regular r:id="rId54"/>
      <p:bold r:id="rId55"/>
    </p:embeddedFont>
    <p:embeddedFont>
      <p:font typeface="Graduate"/>
      <p:regular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E4D5A854-FB02-4212-93D3-208905F7EDB5}">
  <a:tblStyle styleId="{E4D5A854-FB02-4212-93D3-208905F7EDB5}" styleName="Table_0">
    <a:wholeTbl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insideV>
        </a:tcBdr>
      </a:tcStyle>
    </a:wholeTb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Ubuntu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Ubuntu-italic.fntdata"/><Relationship Id="rId50" Type="http://schemas.openxmlformats.org/officeDocument/2006/relationships/font" Target="fonts/Ubuntu-bold.fntdata"/><Relationship Id="rId53" Type="http://schemas.openxmlformats.org/officeDocument/2006/relationships/font" Target="fonts/Average-regular.fntdata"/><Relationship Id="rId52" Type="http://schemas.openxmlformats.org/officeDocument/2006/relationships/font" Target="fonts/Ubuntu-boldItalic.fntdata"/><Relationship Id="rId11" Type="http://schemas.openxmlformats.org/officeDocument/2006/relationships/slide" Target="slides/slide6.xml"/><Relationship Id="rId55" Type="http://schemas.openxmlformats.org/officeDocument/2006/relationships/font" Target="fonts/Oswald-bold.fntdata"/><Relationship Id="rId10" Type="http://schemas.openxmlformats.org/officeDocument/2006/relationships/slide" Target="slides/slide5.xml"/><Relationship Id="rId54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Graduate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quora.com/Which-Internet-companies-use-Python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Shape 6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https://www.quora.com/Which-Internet-companies-use-Python</a:t>
            </a:r>
            <a:r>
              <a:rPr lang="en"/>
              <a:t> 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Google uses Python as a supplemental language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YouTube uses Python primarily for development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You should exemplify: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42 is an int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42.0 is a float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Shape 11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Shape 12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Shape 13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Shape 14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Shape 15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Shape 16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Shape 16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Shape 17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Shape 18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Shape 18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Shape 19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Shape 19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Shape 20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demo in idle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Shape 21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Shape 21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Shape 22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Shape 22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Shape 23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Shape 24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Shape 24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Shape 25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Shape 26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Shape 26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Shape 27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Shape 28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Shape 28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Shape 29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Shape 30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Shape 30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Shape 31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1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Shape 31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Shape 32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hape 10"/>
          <p:cNvGrpSpPr/>
          <p:nvPr/>
        </p:nvGrpSpPr>
        <p:grpSpPr>
          <a:xfrm>
            <a:off x="4350278" y="2855377"/>
            <a:ext cx="443588" cy="105632"/>
            <a:chOff x="4137525" y="2915950"/>
            <a:chExt cx="869099" cy="206999"/>
          </a:xfrm>
        </p:grpSpPr>
        <p:sp>
          <p:nvSpPr>
            <p:cNvPr id="11" name="Shape 11"/>
            <p:cNvSpPr/>
            <p:nvPr/>
          </p:nvSpPr>
          <p:spPr>
            <a:xfrm>
              <a:off x="4468575" y="2915950"/>
              <a:ext cx="206999" cy="20699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2" name="Shape 12"/>
            <p:cNvSpPr/>
            <p:nvPr/>
          </p:nvSpPr>
          <p:spPr>
            <a:xfrm>
              <a:off x="4799625" y="2915950"/>
              <a:ext cx="206999" cy="20699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>
              <a:off x="4137525" y="2915950"/>
              <a:ext cx="206999" cy="20699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Shape 14"/>
          <p:cNvSpPr txBox="1"/>
          <p:nvPr>
            <p:ph type="ctrTitle"/>
          </p:nvPr>
        </p:nvSpPr>
        <p:spPr>
          <a:xfrm>
            <a:off x="671257" y="990800"/>
            <a:ext cx="7801500" cy="1730099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x="671250" y="3174875"/>
            <a:ext cx="7801500" cy="792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490250" y="4681009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/>
          <p:nvPr>
            <p:ph type="title"/>
          </p:nvPr>
        </p:nvSpPr>
        <p:spPr>
          <a:xfrm>
            <a:off x="671250" y="2141250"/>
            <a:ext cx="7852199" cy="8610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90250" y="4681009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8490250" y="4681009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6" name="Shape 26"/>
          <p:cNvSpPr txBox="1"/>
          <p:nvPr>
            <p:ph idx="1" type="body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7" name="Shape 27"/>
          <p:cNvSpPr txBox="1"/>
          <p:nvPr>
            <p:ph idx="2" type="body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490250" y="4681009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90250" y="4681009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4" name="Shape 34"/>
          <p:cNvSpPr txBox="1"/>
          <p:nvPr>
            <p:ph idx="1" type="body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x="8490250" y="4681009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2" type="sldNum"/>
          </p:nvPr>
        </p:nvSpPr>
        <p:spPr>
          <a:xfrm>
            <a:off x="8490250" y="4681009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>
            <a:off x="4572000" y="0"/>
            <a:ext cx="4572000" cy="51434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cxnSp>
        <p:nvCxnSpPr>
          <p:cNvPr id="41" name="Shape 4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Shape 42"/>
          <p:cNvSpPr txBox="1"/>
          <p:nvPr>
            <p:ph type="title"/>
          </p:nvPr>
        </p:nvSpPr>
        <p:spPr>
          <a:xfrm>
            <a:off x="265500" y="1081400"/>
            <a:ext cx="4045199" cy="17103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43" name="Shape 43"/>
          <p:cNvSpPr txBox="1"/>
          <p:nvPr>
            <p:ph idx="1" type="subTitle"/>
          </p:nvPr>
        </p:nvSpPr>
        <p:spPr>
          <a:xfrm>
            <a:off x="265500" y="2845200"/>
            <a:ext cx="4045199" cy="13455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2" type="body"/>
          </p:nvPr>
        </p:nvSpPr>
        <p:spPr>
          <a:xfrm>
            <a:off x="4939500" y="724200"/>
            <a:ext cx="3837000" cy="3695099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2" type="sldNum"/>
          </p:nvPr>
        </p:nvSpPr>
        <p:spPr>
          <a:xfrm>
            <a:off x="8490250" y="4681009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Shape 48"/>
          <p:cNvSpPr txBox="1"/>
          <p:nvPr>
            <p:ph idx="12" type="sldNum"/>
          </p:nvPr>
        </p:nvSpPr>
        <p:spPr>
          <a:xfrm>
            <a:off x="8490250" y="4681009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x="311700" y="1255275"/>
            <a:ext cx="8520599" cy="18906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/>
        </p:txBody>
      </p:sp>
      <p:sp>
        <p:nvSpPr>
          <p:cNvPr id="51" name="Shape 51"/>
          <p:cNvSpPr txBox="1"/>
          <p:nvPr>
            <p:ph idx="1" type="body"/>
          </p:nvPr>
        </p:nvSpPr>
        <p:spPr>
          <a:xfrm>
            <a:off x="311700" y="3228425"/>
            <a:ext cx="8520599" cy="1300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52" name="Shape 52"/>
          <p:cNvSpPr txBox="1"/>
          <p:nvPr>
            <p:ph idx="12" type="sldNum"/>
          </p:nvPr>
        </p:nvSpPr>
        <p:spPr>
          <a:xfrm>
            <a:off x="8490250" y="4681009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idx="12" type="sldNum"/>
          </p:nvPr>
        </p:nvSpPr>
        <p:spPr>
          <a:xfrm>
            <a:off x="8490250" y="4681009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SzPct val="100000"/>
              <a:buFont typeface="Average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90250" y="4681009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04.png"/><Relationship Id="rId4" Type="http://schemas.openxmlformats.org/officeDocument/2006/relationships/image" Target="../media/image07.png"/><Relationship Id="rId5" Type="http://schemas.openxmlformats.org/officeDocument/2006/relationships/image" Target="../media/image0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06.jpg"/><Relationship Id="rId4" Type="http://schemas.openxmlformats.org/officeDocument/2006/relationships/hyperlink" Target="https://github.com/jerrayl/Batttleship/tree/master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0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01.png"/><Relationship Id="rId4" Type="http://schemas.openxmlformats.org/officeDocument/2006/relationships/image" Target="../media/image0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0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0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python.org/dev/peps/pep-0008/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github.com/jerrayl/Connect4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42575B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type="ctrTitle"/>
          </p:nvPr>
        </p:nvSpPr>
        <p:spPr>
          <a:xfrm>
            <a:off x="671257" y="990800"/>
            <a:ext cx="7801500" cy="1730099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" sz="7200">
                <a:solidFill>
                  <a:srgbClr val="FF0000"/>
                </a:solidFill>
                <a:latin typeface="Graduate"/>
                <a:ea typeface="Graduate"/>
                <a:cs typeface="Graduate"/>
                <a:sym typeface="Graduate"/>
              </a:rPr>
              <a:t>D</a:t>
            </a:r>
            <a:r>
              <a:rPr lang="en" sz="7200">
                <a:solidFill>
                  <a:srgbClr val="EA9999"/>
                </a:solidFill>
                <a:latin typeface="Graduate"/>
                <a:ea typeface="Graduate"/>
                <a:cs typeface="Graduate"/>
                <a:sym typeface="Graduate"/>
              </a:rPr>
              <a:t>’</a:t>
            </a:r>
            <a:r>
              <a:rPr lang="en" sz="7200">
                <a:solidFill>
                  <a:srgbClr val="FF9900"/>
                </a:solidFill>
                <a:latin typeface="Graduate"/>
                <a:ea typeface="Graduate"/>
                <a:cs typeface="Graduate"/>
                <a:sym typeface="Graduate"/>
              </a:rPr>
              <a:t>C</a:t>
            </a:r>
            <a:r>
              <a:rPr lang="en" sz="7200">
                <a:solidFill>
                  <a:srgbClr val="FFFF00"/>
                </a:solidFill>
                <a:latin typeface="Graduate"/>
                <a:ea typeface="Graduate"/>
                <a:cs typeface="Graduate"/>
                <a:sym typeface="Graduate"/>
              </a:rPr>
              <a:t>o</a:t>
            </a:r>
            <a:r>
              <a:rPr lang="en" sz="7200">
                <a:solidFill>
                  <a:srgbClr val="00FF00"/>
                </a:solidFill>
                <a:latin typeface="Graduate"/>
                <a:ea typeface="Graduate"/>
                <a:cs typeface="Graduate"/>
                <a:sym typeface="Graduate"/>
              </a:rPr>
              <a:t>d</a:t>
            </a:r>
            <a:r>
              <a:rPr lang="en" sz="7200">
                <a:solidFill>
                  <a:srgbClr val="00FFFF"/>
                </a:solidFill>
                <a:latin typeface="Graduate"/>
                <a:ea typeface="Graduate"/>
                <a:cs typeface="Graduate"/>
                <a:sym typeface="Graduate"/>
              </a:rPr>
              <a:t>e</a:t>
            </a:r>
            <a:r>
              <a:rPr lang="en" sz="7200">
                <a:latin typeface="Graduate"/>
                <a:ea typeface="Graduate"/>
                <a:cs typeface="Graduate"/>
                <a:sym typeface="Graduate"/>
              </a:rPr>
              <a:t> </a:t>
            </a:r>
            <a:r>
              <a:rPr lang="en" sz="7200">
                <a:solidFill>
                  <a:srgbClr val="4A86E8"/>
                </a:solidFill>
                <a:latin typeface="Graduate"/>
                <a:ea typeface="Graduate"/>
                <a:cs typeface="Graduate"/>
                <a:sym typeface="Graduate"/>
              </a:rPr>
              <a:t>2</a:t>
            </a:r>
            <a:r>
              <a:rPr lang="en" sz="7200">
                <a:solidFill>
                  <a:srgbClr val="0000FF"/>
                </a:solidFill>
                <a:latin typeface="Graduate"/>
                <a:ea typeface="Graduate"/>
                <a:cs typeface="Graduate"/>
                <a:sym typeface="Graduate"/>
              </a:rPr>
              <a:t>0</a:t>
            </a:r>
            <a:r>
              <a:rPr lang="en" sz="7200">
                <a:solidFill>
                  <a:srgbClr val="9900FF"/>
                </a:solidFill>
                <a:latin typeface="Graduate"/>
                <a:ea typeface="Graduate"/>
                <a:cs typeface="Graduate"/>
                <a:sym typeface="Graduate"/>
              </a:rPr>
              <a:t>1</a:t>
            </a:r>
            <a:r>
              <a:rPr lang="en" sz="7200">
                <a:solidFill>
                  <a:srgbClr val="FF00FF"/>
                </a:solidFill>
                <a:latin typeface="Graduate"/>
                <a:ea typeface="Graduate"/>
                <a:cs typeface="Graduate"/>
                <a:sym typeface="Graduate"/>
              </a:rPr>
              <a:t>6</a:t>
            </a:r>
          </a:p>
        </p:txBody>
      </p:sp>
      <p:sp>
        <p:nvSpPr>
          <p:cNvPr id="60" name="Shape 60"/>
          <p:cNvSpPr txBox="1"/>
          <p:nvPr>
            <p:ph idx="1" type="subTitle"/>
          </p:nvPr>
        </p:nvSpPr>
        <p:spPr>
          <a:xfrm>
            <a:off x="671250" y="3174875"/>
            <a:ext cx="7801500" cy="792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DHS ICC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Introduction 	</a:t>
            </a:r>
          </a:p>
        </p:txBody>
      </p:sp>
      <p:sp>
        <p:nvSpPr>
          <p:cNvPr id="66" name="Shape 66"/>
          <p:cNvSpPr txBox="1"/>
          <p:nvPr>
            <p:ph idx="1" type="body"/>
          </p:nvPr>
        </p:nvSpPr>
        <p:spPr>
          <a:xfrm>
            <a:off x="311700" y="1127400"/>
            <a:ext cx="8520599" cy="3884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Computing is any calculation done by a computer or any machines, that simplify work for humans.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FFFF"/>
              </a:solidFill>
            </a:endParaRP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457200" lvl="0" rtl="0">
              <a:spcBef>
                <a:spcPts val="0"/>
              </a:spcBef>
              <a:buNone/>
            </a:pPr>
            <a:r>
              <a:t/>
            </a:r>
            <a:endParaRPr sz="1000">
              <a:solidFill>
                <a:srgbClr val="00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Introduction</a:t>
            </a:r>
          </a:p>
        </p:txBody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311700" y="1127400"/>
            <a:ext cx="8520599" cy="3884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Python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	</a:t>
            </a:r>
            <a:b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	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Easy to learn, but powerful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	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Intuitive syntax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	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Used in large companies, such as Google and YouTube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73" name="Shape 73"/>
          <p:cNvPicPr preferRelativeResize="0"/>
          <p:nvPr/>
        </p:nvPicPr>
        <p:blipFill rotWithShape="1">
          <a:blip r:embed="rId3">
            <a:alphaModFix/>
          </a:blip>
          <a:srcRect b="29579" l="10447" r="66007" t="9608"/>
          <a:stretch/>
        </p:blipFill>
        <p:spPr>
          <a:xfrm>
            <a:off x="1479850" y="1017725"/>
            <a:ext cx="783824" cy="68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Shape 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3312" y="3793425"/>
            <a:ext cx="1899157" cy="79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Shape 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4747" y="3572997"/>
            <a:ext cx="1980199" cy="12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Content</a:t>
            </a:r>
          </a:p>
        </p:txBody>
      </p:sp>
      <p:sp>
        <p:nvSpPr>
          <p:cNvPr id="81" name="Shape 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Ubuntu"/>
              <a:buChar char="-"/>
            </a:pPr>
            <a:r>
              <a:rPr lang="en" sz="24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Variables</a:t>
            </a: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Ubuntu"/>
              <a:buChar char="-"/>
            </a:pPr>
            <a:r>
              <a:rPr lang="en" sz="24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Data Types</a:t>
            </a: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Ubuntu"/>
              <a:buChar char="-"/>
            </a:pPr>
            <a:r>
              <a:rPr lang="en" sz="24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Getting Input</a:t>
            </a: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Ubuntu"/>
              <a:buChar char="-"/>
            </a:pPr>
            <a:r>
              <a:rPr lang="en" sz="24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Operators</a:t>
            </a: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Ubuntu"/>
              <a:buChar char="-"/>
            </a:pPr>
            <a:r>
              <a:rPr lang="en" sz="24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If/Else/And/Or</a:t>
            </a: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Ubuntu"/>
              <a:buChar char="-"/>
            </a:pPr>
            <a:r>
              <a:rPr lang="en" sz="24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Loops</a:t>
            </a: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Ubuntu"/>
              <a:buChar char="-"/>
            </a:pPr>
            <a:r>
              <a:rPr lang="en" sz="24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Lists</a:t>
            </a: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Ubuntu"/>
              <a:buChar char="-"/>
            </a:pPr>
            <a:r>
              <a:rPr lang="en" sz="24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Functions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Variables</a:t>
            </a:r>
          </a:p>
        </p:txBody>
      </p:sp>
      <p:sp>
        <p:nvSpPr>
          <p:cNvPr id="87" name="Shape 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used to store values which include numbers and strings</a:t>
            </a: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variable names should</a:t>
            </a:r>
            <a:r>
              <a:rPr lang="en">
                <a:solidFill>
                  <a:srgbClr val="FF0000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en">
                <a:solidFill>
                  <a:srgbClr val="EFFF6A"/>
                </a:solidFill>
                <a:latin typeface="Ubuntu"/>
                <a:ea typeface="Ubuntu"/>
                <a:cs typeface="Ubuntu"/>
                <a:sym typeface="Ubuntu"/>
              </a:rPr>
              <a:t>NOT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:</a:t>
            </a:r>
          </a:p>
          <a:p>
            <a:pPr indent="457200"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start with numbers</a:t>
            </a:r>
          </a:p>
          <a:p>
            <a:pPr indent="457200"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have space in between (instead, use _ )</a:t>
            </a:r>
          </a:p>
          <a:p>
            <a:pPr indent="457200"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use system reserves </a:t>
            </a: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E.g. print, input, etc.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FFFF"/>
              </a:solidFill>
              <a:latin typeface="Ubuntu"/>
              <a:ea typeface="Ubuntu"/>
              <a:cs typeface="Ubuntu"/>
              <a:sym typeface="Ubuntu"/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Assigning Variables</a:t>
            </a:r>
          </a:p>
        </p:txBody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num = 13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FFFF"/>
              </a:solidFill>
              <a:latin typeface="Ubuntu"/>
              <a:ea typeface="Ubuntu"/>
              <a:cs typeface="Ubuntu"/>
              <a:sym typeface="Ubuntu"/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                      </a:t>
            </a: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variable name  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           </a:t>
            </a: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assignment operator  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       </a:t>
            </a: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     value 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cxnSp>
        <p:nvCxnSpPr>
          <p:cNvPr id="94" name="Shape 94"/>
          <p:cNvCxnSpPr/>
          <p:nvPr/>
        </p:nvCxnSpPr>
        <p:spPr>
          <a:xfrm flipH="1">
            <a:off x="2363225" y="2758875"/>
            <a:ext cx="630900" cy="89820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95" name="Shape 95"/>
          <p:cNvCxnSpPr/>
          <p:nvPr/>
        </p:nvCxnSpPr>
        <p:spPr>
          <a:xfrm>
            <a:off x="6672675" y="2726775"/>
            <a:ext cx="481200" cy="96240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96" name="Shape 96"/>
          <p:cNvCxnSpPr/>
          <p:nvPr/>
        </p:nvCxnSpPr>
        <p:spPr>
          <a:xfrm>
            <a:off x="4951025" y="2681475"/>
            <a:ext cx="5400" cy="97560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lg" w="lg" type="none"/>
            <a:tailEnd len="lg" w="lg" type="triangle"/>
          </a:ln>
        </p:spPr>
      </p:cxn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Data Types</a:t>
            </a:r>
          </a:p>
        </p:txBody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x="311700" y="1127400"/>
            <a:ext cx="8520599" cy="3884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str()</a:t>
            </a: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: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string</a:t>
            </a: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int()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: integer 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float()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: numbers with fractional parts/decimals</a:t>
            </a: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bool()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: boolean (True/False)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Printing output</a:t>
            </a:r>
          </a:p>
        </p:txBody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⇒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print()</a:t>
            </a:r>
          </a:p>
          <a:p>
            <a:pPr indent="457200" lvl="0" marL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computer will print contents within bracket</a:t>
            </a:r>
          </a:p>
          <a:p>
            <a:pPr indent="457200" lvl="0" marL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data types include </a:t>
            </a:r>
            <a:r>
              <a:rPr lang="en">
                <a:solidFill>
                  <a:srgbClr val="FFFF00"/>
                </a:solidFill>
                <a:latin typeface="Ubuntu"/>
                <a:ea typeface="Ubuntu"/>
                <a:cs typeface="Ubuntu"/>
                <a:sym typeface="Ubuntu"/>
              </a:rPr>
              <a:t>strings, integers, floats, booleans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  </a:t>
            </a:r>
          </a:p>
          <a:p>
            <a:pPr indent="45720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                                                                                         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E.g.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print("I", "love", "computing")</a:t>
            </a:r>
          </a:p>
          <a:p>
            <a:pPr indent="457200"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I love computing</a:t>
            </a:r>
          </a:p>
          <a:p>
            <a:pPr indent="457200"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print("I" + "love" + "computing")</a:t>
            </a:r>
          </a:p>
          <a:p>
            <a:pPr indent="457200"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Ilovecomputing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/>
          <p:nvPr>
            <p:ph idx="1" type="body"/>
          </p:nvPr>
        </p:nvSpPr>
        <p:spPr>
          <a:xfrm>
            <a:off x="311700" y="1131075"/>
            <a:ext cx="8520600" cy="1532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Try to create variables, for your name, age etc and assign the relevant data to them</a:t>
            </a:r>
            <a:b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</a:br>
            <a:b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Then, print the variables out.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14" name="Shape 114"/>
          <p:cNvSpPr txBox="1"/>
          <p:nvPr>
            <p:ph type="title"/>
          </p:nvPr>
        </p:nvSpPr>
        <p:spPr>
          <a:xfrm>
            <a:off x="311700" y="4343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Activity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Getting input</a:t>
            </a:r>
          </a:p>
        </p:txBody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</a:rPr>
              <a:t>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using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</a:rPr>
              <a:t> 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name = input("Enter name here:")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⇒</a:t>
            </a: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prompts user to enter input 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Enter name here: </a:t>
            </a: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also assigns input to variable (i.e.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)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/>
          <p:nvPr>
            <p:ph idx="1" type="body"/>
          </p:nvPr>
        </p:nvSpPr>
        <p:spPr>
          <a:xfrm>
            <a:off x="311700" y="1131075"/>
            <a:ext cx="8520600" cy="1222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Ask the user for their job and income, then print out a response to confirm the data obtained.</a:t>
            </a:r>
          </a:p>
        </p:txBody>
      </p:sp>
      <p:sp>
        <p:nvSpPr>
          <p:cNvPr id="126" name="Shape 126"/>
          <p:cNvSpPr txBox="1"/>
          <p:nvPr>
            <p:ph type="title"/>
          </p:nvPr>
        </p:nvSpPr>
        <p:spPr>
          <a:xfrm>
            <a:off x="311700" y="4343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Activity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Comparatives</a:t>
            </a:r>
          </a:p>
        </p:txBody>
      </p:sp>
      <p:sp>
        <p:nvSpPr>
          <p:cNvPr id="132" name="Shape 132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133" name="Shape 133"/>
          <p:cNvGraphicFramePr/>
          <p:nvPr/>
        </p:nvGraphicFramePr>
        <p:xfrm>
          <a:off x="899050" y="140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{E4D5A854-FB02-4212-93D3-208905F7EDB5}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assigning value to variable</a:t>
                      </a: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==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checks for equality</a:t>
                      </a: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!=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not equal</a:t>
                      </a: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less than</a:t>
                      </a: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&lt;=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less than or equal to </a:t>
                      </a: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more than</a:t>
                      </a: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&gt;=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more than or equal to</a:t>
                      </a: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Mathematical Operations</a:t>
            </a:r>
          </a:p>
        </p:txBody>
      </p:sp>
      <p:graphicFrame>
        <p:nvGraphicFramePr>
          <p:cNvPr id="139" name="Shape 139"/>
          <p:cNvGraphicFramePr/>
          <p:nvPr/>
        </p:nvGraphicFramePr>
        <p:xfrm>
          <a:off x="1080825" y="121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{E4D5A854-FB02-4212-93D3-208905F7EDB5}</a:tableStyleId>
              </a:tblPr>
              <a:tblGrid>
                <a:gridCol w="3408300"/>
                <a:gridCol w="3408300"/>
              </a:tblGrid>
              <a:tr h="415525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Add</a:t>
                      </a:r>
                    </a:p>
                  </a:txBody>
                  <a:tcPr marT="91425" marB="91425" marR="91425" marL="91425"/>
                </a:tc>
              </a:tr>
              <a:tr h="415525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Subtract</a:t>
                      </a:r>
                    </a:p>
                  </a:txBody>
                  <a:tcPr marT="91425" marB="91425" marR="91425" marL="91425"/>
                </a:tc>
              </a:tr>
              <a:tr h="415525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Multiply</a:t>
                      </a:r>
                    </a:p>
                  </a:txBody>
                  <a:tcPr marT="91425" marB="91425" marR="91425" marL="91425"/>
                </a:tc>
              </a:tr>
              <a:tr h="415525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**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Exponent</a:t>
                      </a:r>
                    </a:p>
                  </a:txBody>
                  <a:tcPr marT="91425" marB="91425" marR="91425" marL="91425"/>
                </a:tc>
              </a:tr>
              <a:tr h="415525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Divide</a:t>
                      </a:r>
                    </a:p>
                  </a:txBody>
                  <a:tcPr marT="91425" marB="91425" marR="91425" marL="91425"/>
                </a:tc>
              </a:tr>
              <a:tr h="415525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Quotient</a:t>
                      </a:r>
                    </a:p>
                  </a:txBody>
                  <a:tcPr marT="91425" marB="91425" marR="91425" marL="91425"/>
                </a:tc>
              </a:tr>
              <a:tr h="415525"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Remainder</a:t>
                      </a: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0" name="Shape 140"/>
          <p:cNvSpPr txBox="1"/>
          <p:nvPr/>
        </p:nvSpPr>
        <p:spPr>
          <a:xfrm>
            <a:off x="2288400" y="4469825"/>
            <a:ext cx="42666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NOTE: Python will follow </a:t>
            </a:r>
            <a:r>
              <a:rPr lang="en" sz="1800">
                <a:solidFill>
                  <a:srgbClr val="FFFF00"/>
                </a:solidFill>
                <a:latin typeface="Ubuntu"/>
                <a:ea typeface="Ubuntu"/>
                <a:cs typeface="Ubuntu"/>
                <a:sym typeface="Ubuntu"/>
              </a:rPr>
              <a:t>BODMAS</a:t>
            </a: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rule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If/else</a:t>
            </a:r>
          </a:p>
        </p:txBody>
      </p:sp>
      <p:sp>
        <p:nvSpPr>
          <p:cNvPr id="146" name="Shape 146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</a:rPr>
              <a:t>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if condition stated is fulfilled,</a:t>
            </a:r>
            <a:b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    action will be executed.</a:t>
            </a:r>
          </a:p>
          <a:p>
            <a:pPr indent="457200"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       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&lt;condition1&gt;:      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	&lt;action1&gt;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elif &lt;condition2&gt;: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	&lt;action2&gt;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...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else: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	&lt;action</a:t>
            </a:r>
            <a:r>
              <a:rPr i="1"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If/else</a:t>
            </a:r>
          </a:p>
        </p:txBody>
      </p:sp>
      <p:sp>
        <p:nvSpPr>
          <p:cNvPr id="152" name="Shape 152"/>
          <p:cNvSpPr txBox="1"/>
          <p:nvPr>
            <p:ph idx="1" type="body"/>
          </p:nvPr>
        </p:nvSpPr>
        <p:spPr>
          <a:xfrm>
            <a:off x="311700" y="1152475"/>
            <a:ext cx="8520600" cy="3563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E.g.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 = 3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b = 9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if a &lt; b: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print(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 is less than b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elif a == b:                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print(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 is equal to b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else: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print(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 is greater than b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NOTE: elif is for when you need to state more conditions      </a:t>
            </a:r>
            <a:r>
              <a:rPr lang="en">
                <a:solidFill>
                  <a:srgbClr val="00FFFF"/>
                </a:solidFill>
              </a:rPr>
              <a:t>                                                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And/or</a:t>
            </a:r>
          </a:p>
        </p:txBody>
      </p:sp>
      <p:sp>
        <p:nvSpPr>
          <p:cNvPr id="158" name="Shape 158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</a:rPr>
              <a:t>⇒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n">
                <a:solidFill>
                  <a:srgbClr val="00FFFF"/>
                </a:solidFill>
              </a:rPr>
              <a:t> 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both conditions MUST be satisfied for result to be True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⇒ or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at least one condition MUST be satisfied for result to be True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FFFF"/>
              </a:solidFill>
              <a:latin typeface="Ubuntu"/>
              <a:ea typeface="Ubuntu"/>
              <a:cs typeface="Ubuntu"/>
              <a:sym typeface="Ubuntu"/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FFFF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FFFF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/>
          <p:nvPr>
            <p:ph idx="1" type="body"/>
          </p:nvPr>
        </p:nvSpPr>
        <p:spPr>
          <a:xfrm>
            <a:off x="311700" y="1131075"/>
            <a:ext cx="8520600" cy="820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Ask the user for their job and income, then print out a response based on their income.</a:t>
            </a:r>
          </a:p>
        </p:txBody>
      </p:sp>
      <p:sp>
        <p:nvSpPr>
          <p:cNvPr id="164" name="Shape 164"/>
          <p:cNvSpPr txBox="1"/>
          <p:nvPr>
            <p:ph type="title"/>
          </p:nvPr>
        </p:nvSpPr>
        <p:spPr>
          <a:xfrm>
            <a:off x="311700" y="4343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Activity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Loops</a:t>
            </a:r>
          </a:p>
        </p:txBody>
      </p:sp>
      <p:sp>
        <p:nvSpPr>
          <p:cNvPr id="170" name="Shape 170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Used to repeat a fixed pattern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2 Types: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	→ </a:t>
            </a:r>
            <a:r>
              <a:rPr lang="en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(when the number of times the code should repeat is finite)</a:t>
            </a: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	→ </a:t>
            </a:r>
            <a:r>
              <a:rPr lang="en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(repeat when condition is true, terminates when false)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while vs for</a:t>
            </a:r>
          </a:p>
        </p:txBody>
      </p:sp>
      <p:sp>
        <p:nvSpPr>
          <p:cNvPr id="176" name="Shape 176"/>
          <p:cNvSpPr txBox="1"/>
          <p:nvPr>
            <p:ph idx="1" type="body"/>
          </p:nvPr>
        </p:nvSpPr>
        <p:spPr>
          <a:xfrm>
            <a:off x="311700" y="1152475"/>
            <a:ext cx="36663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E.g.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compute sum of 1 to 10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total = 0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 = 1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while n &lt;= 10:</a:t>
            </a:r>
          </a:p>
          <a:p>
            <a:pPr indent="457200"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total = total + n</a:t>
            </a:r>
          </a:p>
          <a:p>
            <a:pPr indent="457200"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 = n + 1</a:t>
            </a: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print(total) </a:t>
            </a:r>
          </a:p>
        </p:txBody>
      </p:sp>
      <p:sp>
        <p:nvSpPr>
          <p:cNvPr id="177" name="Shape 177"/>
          <p:cNvSpPr txBox="1"/>
          <p:nvPr>
            <p:ph idx="1" type="body"/>
          </p:nvPr>
        </p:nvSpPr>
        <p:spPr>
          <a:xfrm>
            <a:off x="425655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E.g. </a:t>
            </a: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compute sum of 1 to 10  </a:t>
            </a:r>
            <a:r>
              <a:rPr lang="en" sz="1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                      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total = 0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 (1,1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total = total + i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print(total)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>
            <p:ph idx="1" type="body"/>
          </p:nvPr>
        </p:nvSpPr>
        <p:spPr>
          <a:xfrm>
            <a:off x="311700" y="1131075"/>
            <a:ext cx="8520600" cy="820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With an integer or float called income, print out a statement detailing how much the person would have earned in total each month of a year.</a:t>
            </a:r>
          </a:p>
        </p:txBody>
      </p:sp>
      <p:sp>
        <p:nvSpPr>
          <p:cNvPr id="183" name="Shape 183"/>
          <p:cNvSpPr txBox="1"/>
          <p:nvPr>
            <p:ph type="title"/>
          </p:nvPr>
        </p:nvSpPr>
        <p:spPr>
          <a:xfrm>
            <a:off x="311700" y="4343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Activity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/>
          <p:nvPr>
            <p:ph idx="1" type="body"/>
          </p:nvPr>
        </p:nvSpPr>
        <p:spPr>
          <a:xfrm>
            <a:off x="311700" y="673875"/>
            <a:ext cx="8520600" cy="820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Try implementing the previous code as a while loop.</a:t>
            </a:r>
          </a:p>
        </p:txBody>
      </p:sp>
      <p:sp>
        <p:nvSpPr>
          <p:cNvPr id="189" name="Shape 189"/>
          <p:cNvSpPr txBox="1"/>
          <p:nvPr>
            <p:ph type="title"/>
          </p:nvPr>
        </p:nvSpPr>
        <p:spPr>
          <a:xfrm>
            <a:off x="311700" y="533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Activity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Lists</a:t>
            </a:r>
          </a:p>
        </p:txBody>
      </p:sp>
      <p:sp>
        <p:nvSpPr>
          <p:cNvPr id="195" name="Shape 195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store elements between square brackets, separated by a comma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can store different data types</a:t>
            </a:r>
          </a:p>
          <a:p>
            <a:pPr indent="457200"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E.g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alist = [1,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"John",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2, 3.5, 4.6,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True, "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lvl="0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access each element through the index, starting from 0</a:t>
            </a:r>
            <a:b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	</a:t>
            </a: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E.g. 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alist[0]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rgbClr val="00FFFF"/>
                </a:solidFill>
              </a:rPr>
              <a:t>will return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</a:p>
          <a:p>
            <a:pPr indent="457200" lvl="0" marL="457200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alist[1]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00FFFF"/>
                </a:solidFill>
              </a:rPr>
              <a:t>will return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"John"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FFFFFF"/>
                </a:solidFill>
              </a:rPr>
              <a:t>		</a:t>
            </a:r>
          </a:p>
          <a:p>
            <a:pPr indent="457200" lvl="0" marL="457200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alist[-1]</a:t>
            </a:r>
            <a:r>
              <a:rPr lang="en">
                <a:solidFill>
                  <a:srgbClr val="00FFFF"/>
                </a:solidFill>
              </a:rPr>
              <a:t> will return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"b"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Lists</a:t>
            </a:r>
          </a:p>
        </p:txBody>
      </p:sp>
      <p:sp>
        <p:nvSpPr>
          <p:cNvPr id="201" name="Shape 201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E.g.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scores = [23,56,100,78]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score in scores:</a:t>
            </a:r>
            <a:b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print(score)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b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56	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b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78</a:t>
            </a:r>
            <a:br>
              <a:rPr lang="en">
                <a:solidFill>
                  <a:srgbClr val="FFFFFF"/>
                </a:solidFill>
              </a:rPr>
            </a:br>
            <a:r>
              <a:rPr lang="en">
                <a:solidFill>
                  <a:srgbClr val="FFFFFF"/>
                </a:solidFill>
              </a:rPr>
              <a:t>	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Lists</a:t>
            </a:r>
          </a:p>
        </p:txBody>
      </p:sp>
      <p:sp>
        <p:nvSpPr>
          <p:cNvPr id="207" name="Shape 20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457200" lvl="0" rt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insert</a:t>
            </a:r>
            <a:b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lang="en">
                <a:solidFill>
                  <a:srgbClr val="00FFFF"/>
                </a:solidFill>
              </a:rPr>
              <a:t>		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list.insert(index, element)</a:t>
            </a:r>
          </a:p>
          <a:p>
            <a:pPr indent="457200" lvl="0" rt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append</a:t>
            </a:r>
            <a:b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lang="en">
                <a:solidFill>
                  <a:srgbClr val="00FFFF"/>
                </a:solidFill>
              </a:rPr>
              <a:t>		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list.append(element)</a:t>
            </a:r>
          </a:p>
          <a:p>
            <a:pPr indent="457200" lvl="0">
              <a:spcBef>
                <a:spcPts val="0"/>
              </a:spcBef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/>
              <a:t>Activity</a:t>
            </a:r>
          </a:p>
        </p:txBody>
      </p:sp>
      <p:sp>
        <p:nvSpPr>
          <p:cNvPr id="213" name="Shape 213"/>
          <p:cNvSpPr txBox="1"/>
          <p:nvPr>
            <p:ph idx="1" type="body"/>
          </p:nvPr>
        </p:nvSpPr>
        <p:spPr>
          <a:xfrm>
            <a:off x="311700" y="1081125"/>
            <a:ext cx="8520600" cy="16254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Create a list of favourite fruits</a:t>
            </a:r>
          </a:p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Print out the names of all the fruits in this format: </a:t>
            </a:r>
          </a:p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I like &lt;insert fruit name here&gt;!</a:t>
            </a:r>
          </a:p>
          <a:p>
            <a:pPr lvl="0" rtl="0" algn="ctr">
              <a:spcBef>
                <a:spcPts val="0"/>
              </a:spcBef>
              <a:buNone/>
            </a:pPr>
            <a:r>
              <a:t/>
            </a:r>
            <a:endParaRPr i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Function</a:t>
            </a:r>
          </a:p>
        </p:txBody>
      </p:sp>
      <p:sp>
        <p:nvSpPr>
          <p:cNvPr id="219" name="Shape 219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reusable subprogram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 perform a single task well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E.g.  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print()</a:t>
            </a:r>
            <a:b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input()</a:t>
            </a:r>
            <a:b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lower()</a:t>
            </a:r>
            <a:b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chr()</a:t>
            </a:r>
            <a:b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randint()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Function</a:t>
            </a:r>
          </a:p>
        </p:txBody>
      </p:sp>
      <p:sp>
        <p:nvSpPr>
          <p:cNvPr id="225" name="Shape 225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Defining a function</a:t>
            </a:r>
          </a:p>
          <a:p>
            <a:pPr indent="457200"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def &lt;function name&gt;(parameters):</a:t>
            </a:r>
            <a:b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&lt;carry out actions&gt;</a:t>
            </a:r>
            <a:b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return &lt;value&gt;  </a:t>
            </a:r>
            <a:r>
              <a:rPr lang="en">
                <a:solidFill>
                  <a:srgbClr val="EFFF6A"/>
                </a:solidFill>
                <a:latin typeface="Courier New"/>
                <a:ea typeface="Courier New"/>
                <a:cs typeface="Courier New"/>
                <a:sym typeface="Courier New"/>
              </a:rPr>
              <a:t># only if you want to return a value to the calling program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E.g.</a:t>
            </a: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def sum(a,b):</a:t>
            </a:r>
            <a:b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total = a + b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		return total </a:t>
            </a:r>
            <a:r>
              <a:rPr lang="en">
                <a:solidFill>
                  <a:srgbClr val="EFFF6A"/>
                </a:solidFill>
                <a:latin typeface="Courier New"/>
                <a:ea typeface="Courier New"/>
                <a:cs typeface="Courier New"/>
                <a:sym typeface="Courier New"/>
              </a:rPr>
              <a:t># value of sum(a,b) is total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/>
              <a:t>Activity</a:t>
            </a:r>
          </a:p>
        </p:txBody>
      </p:sp>
      <p:sp>
        <p:nvSpPr>
          <p:cNvPr id="231" name="Shape 231"/>
          <p:cNvSpPr txBox="1"/>
          <p:nvPr>
            <p:ph idx="1" type="body"/>
          </p:nvPr>
        </p:nvSpPr>
        <p:spPr>
          <a:xfrm>
            <a:off x="311700" y="1173875"/>
            <a:ext cx="8520600" cy="11049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Create a function called </a:t>
            </a:r>
            <a:r>
              <a:rPr lang="en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buy_fruit </a:t>
            </a: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with parameters price, number and money</a:t>
            </a:r>
          </a:p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to check if user has sufficient money to buy fruit, if so return the change</a:t>
            </a:r>
          </a:p>
        </p:txBody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Shape 2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Shape 237"/>
          <p:cNvSpPr txBox="1"/>
          <p:nvPr>
            <p:ph type="title"/>
          </p:nvPr>
        </p:nvSpPr>
        <p:spPr>
          <a:xfrm>
            <a:off x="3445800" y="445025"/>
            <a:ext cx="22524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Try it out!</a:t>
            </a:r>
          </a:p>
        </p:txBody>
      </p:sp>
      <p:sp>
        <p:nvSpPr>
          <p:cNvPr id="238" name="Shape 238"/>
          <p:cNvSpPr txBox="1"/>
          <p:nvPr>
            <p:ph idx="1" type="body"/>
          </p:nvPr>
        </p:nvSpPr>
        <p:spPr>
          <a:xfrm>
            <a:off x="1948800" y="1086950"/>
            <a:ext cx="5246400" cy="1096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6000" u="sng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4"/>
              </a:rPr>
              <a:t>BATTLESHIP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Battleship</a:t>
            </a:r>
          </a:p>
        </p:txBody>
      </p:sp>
      <p:pic>
        <p:nvPicPr>
          <p:cNvPr id="244" name="Shape 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9600" y="1017725"/>
            <a:ext cx="3325624" cy="332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Introducing the Raspberry Pi</a:t>
            </a:r>
          </a:p>
        </p:txBody>
      </p:sp>
      <p:pic>
        <p:nvPicPr>
          <p:cNvPr id="250" name="Shape 2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8321" y="1754025"/>
            <a:ext cx="2817249" cy="256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Shape 2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8775" y="1269912"/>
            <a:ext cx="850250" cy="107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Shape 252"/>
          <p:cNvSpPr txBox="1"/>
          <p:nvPr/>
        </p:nvSpPr>
        <p:spPr>
          <a:xfrm>
            <a:off x="339225" y="1446425"/>
            <a:ext cx="4452900" cy="3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-Low-cost, credit-sized computer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-Plugs into a monitor, uses a standard keyboard and mouse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-Does everything you’d expect a computer to do 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E.g. browsing the internet, play high-definition video, word-processing, play games, to make spreadsheets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Raspberry Pi</a:t>
            </a:r>
          </a:p>
        </p:txBody>
      </p:sp>
      <p:sp>
        <p:nvSpPr>
          <p:cNvPr id="258" name="Shape 258"/>
          <p:cNvSpPr txBox="1"/>
          <p:nvPr>
            <p:ph idx="1" type="body"/>
          </p:nvPr>
        </p:nvSpPr>
        <p:spPr>
          <a:xfrm>
            <a:off x="235500" y="1381075"/>
            <a:ext cx="8520600" cy="3340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-Can be used to understand how computers work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-Has been used in a wide array of digital maker projects (from music machines and parent detectors to weather stations and tweeting birdhouses with infra-red cameras)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FFFF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59" name="Shape 2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875" y="195712"/>
            <a:ext cx="850250" cy="10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Pros vs cons</a:t>
            </a:r>
          </a:p>
        </p:txBody>
      </p:sp>
      <p:graphicFrame>
        <p:nvGraphicFramePr>
          <p:cNvPr id="265" name="Shape 265"/>
          <p:cNvGraphicFramePr/>
          <p:nvPr/>
        </p:nvGraphicFramePr>
        <p:xfrm>
          <a:off x="706550" y="14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{E4D5A854-FB02-4212-93D3-208905F7EDB5}</a:tableStyleId>
              </a:tblPr>
              <a:tblGrid>
                <a:gridCol w="3713050"/>
                <a:gridCol w="3713050"/>
              </a:tblGrid>
              <a:tr h="580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Advantages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Disadvantages</a:t>
                      </a:r>
                    </a:p>
                  </a:txBody>
                  <a:tcPr marT="91425" marB="91425" marR="91425" marL="91425" anchor="ctr"/>
                </a:tc>
              </a:tr>
              <a:tr h="580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Cheap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Not particularly fast</a:t>
                      </a:r>
                    </a:p>
                  </a:txBody>
                  <a:tcPr marT="91425" marB="91425" marR="91425" marL="91425" anchor="ctr"/>
                </a:tc>
              </a:tr>
              <a:tr h="580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Expandable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 Has limited programs and apps</a:t>
                      </a:r>
                    </a:p>
                  </a:txBody>
                  <a:tcPr marT="91425" marB="91425" marR="91425" marL="91425" anchor="ctr"/>
                </a:tc>
              </a:tr>
              <a:tr h="580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Easy to program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>
                          <a:solidFill>
                            <a:srgbClr val="00FFFF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Has memory limitations</a:t>
                      </a: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Ingredients for a Raspberry Pi</a:t>
            </a:r>
          </a:p>
        </p:txBody>
      </p:sp>
      <p:sp>
        <p:nvSpPr>
          <p:cNvPr id="271" name="Shape 2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2" name="Shape 272"/>
          <p:cNvSpPr txBox="1"/>
          <p:nvPr/>
        </p:nvSpPr>
        <p:spPr>
          <a:xfrm>
            <a:off x="876850" y="1589275"/>
            <a:ext cx="3357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FFFF"/>
              </a:buClr>
              <a:buSzPct val="100000"/>
              <a:buFont typeface="Ubuntu"/>
              <a:buAutoNum type="arabicPeriod"/>
            </a:pP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Raspberry Pi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FFFF"/>
              </a:buClr>
              <a:buSzPct val="100000"/>
              <a:buFont typeface="Ubuntu"/>
              <a:buAutoNum type="arabicPeriod"/>
            </a:pP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Micro SD Card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FFFF"/>
              </a:buClr>
              <a:buSzPct val="100000"/>
              <a:buFont typeface="Ubuntu"/>
              <a:buAutoNum type="arabicPeriod"/>
            </a:pP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Power Cable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FFFF"/>
              </a:buClr>
              <a:buSzPct val="100000"/>
              <a:buFont typeface="Ubuntu"/>
              <a:buAutoNum type="arabicPeriod"/>
            </a:pP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Monitor + HDMI Cable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FFFF"/>
              </a:buClr>
              <a:buSzPct val="100000"/>
              <a:buFont typeface="Ubuntu"/>
              <a:buAutoNum type="arabicPeriod"/>
            </a:pP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Keyboard + Mouse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FFFF"/>
              </a:buClr>
              <a:buSzPct val="100000"/>
              <a:buFont typeface="Ubuntu"/>
              <a:buAutoNum type="arabicPeriod"/>
            </a:pP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WiFi Adapter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Shape 273"/>
          <p:cNvSpPr txBox="1"/>
          <p:nvPr/>
        </p:nvSpPr>
        <p:spPr>
          <a:xfrm>
            <a:off x="4871550" y="1283200"/>
            <a:ext cx="3357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00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 anatomy of a Pi</a:t>
            </a:r>
          </a:p>
        </p:txBody>
      </p:sp>
      <p:pic>
        <p:nvPicPr>
          <p:cNvPr id="279" name="Shape 2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675" y="1017725"/>
            <a:ext cx="5800649" cy="383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Style</a:t>
            </a:r>
          </a:p>
        </p:txBody>
      </p:sp>
      <p:sp>
        <p:nvSpPr>
          <p:cNvPr id="285" name="Shape 285"/>
          <p:cNvSpPr txBox="1"/>
          <p:nvPr/>
        </p:nvSpPr>
        <p:spPr>
          <a:xfrm>
            <a:off x="355400" y="641675"/>
            <a:ext cx="77103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⇒ </a:t>
            </a:r>
            <a:r>
              <a:rPr lang="en" sz="18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Style guide for Python. Recommended to follow the guide, but code still can work without. Main purpose is for the sake of consistency and legibility.</a:t>
            </a:r>
          </a:p>
        </p:txBody>
      </p:sp>
      <p:sp>
        <p:nvSpPr>
          <p:cNvPr id="286" name="Shape 286"/>
          <p:cNvSpPr txBox="1"/>
          <p:nvPr/>
        </p:nvSpPr>
        <p:spPr>
          <a:xfrm>
            <a:off x="1863100" y="2251900"/>
            <a:ext cx="44328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3"/>
              </a:rPr>
              <a:t>https://www.python.org/dev/peps/pep-0008/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/>
          <p:nvPr>
            <p:ph type="ctrTitle"/>
          </p:nvPr>
        </p:nvSpPr>
        <p:spPr>
          <a:xfrm>
            <a:off x="671257" y="990800"/>
            <a:ext cx="7801500" cy="17301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Extra Tasks</a:t>
            </a:r>
          </a:p>
        </p:txBody>
      </p:sp>
    </p:spTree>
  </p:cSld>
  <p:clrMapOvr>
    <a:masterClrMapping/>
  </p:clrMapOvr>
  <p:transition spd="slow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36666"/>
              <a:buFont typeface="Arial"/>
              <a:buNone/>
            </a:pPr>
            <a:r>
              <a:rPr lang="en"/>
              <a:t>Types of tasks	</a:t>
            </a:r>
          </a:p>
        </p:txBody>
      </p:sp>
      <p:sp>
        <p:nvSpPr>
          <p:cNvPr id="297" name="Shape 2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Level 0-A small step. Probably similar to what you have done.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Level 1-Slightly tougher, may be a simple program totally done by yourself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Level 2-Moderate challenge. Not so hard to pose a huge challenge, but it is meant to be a big step forward.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Level 3-Challenging. May need mastery of what knowledge you have learnt.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Tips</a:t>
            </a:r>
          </a:p>
        </p:txBody>
      </p:sp>
      <p:sp>
        <p:nvSpPr>
          <p:cNvPr id="303" name="Shape 3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If program is stuck in infinite loop, press Ctrl-C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Spoilers are provided to give hints on how to do some tasks. The spoilers are white, so select the text to read them.</a:t>
            </a:r>
          </a:p>
        </p:txBody>
      </p:sp>
    </p:spTree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Teaching Computers How To Love (Level 0)</a:t>
            </a:r>
          </a:p>
        </p:txBody>
      </p:sp>
      <p:sp>
        <p:nvSpPr>
          <p:cNvPr id="309" name="Shape 30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Computers have been said to be heartless, but with Python, you will change all of this. Print the following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_   _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(  v  )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\   /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v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A backslash (\) is keyed in using this: “\\” due to the special meaning a backslash has. Also, you can print newlines using “\n” to separate the lines. For this, copy and paste line by line, including all the whitespace at the front.</a:t>
            </a:r>
          </a:p>
        </p:txBody>
      </p:sp>
    </p:spTree>
  </p:cSld>
  <p:clrMapOvr>
    <a:masterClrMapping/>
  </p:clrMapOvr>
  <p:transition spd="slow">
    <p:cut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Number Guessing Game (Level 1)</a:t>
            </a:r>
          </a:p>
        </p:txBody>
      </p:sp>
      <p:sp>
        <p:nvSpPr>
          <p:cNvPr id="315" name="Shape 3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A game you probably played yourself. Generate a random number (usually 1-100), and continuously let the user guess. For every guess, you either say “lower”, “higher”, or “correct answer”. Make such a game in python.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Note: To generate random numbers, you will need two things.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“import random” at the start before anything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“random.randint(1, 100)” generates a number from 1 to 100, inclusive of 1 and 100, and returns a number which can be stored in a variable</a:t>
            </a:r>
          </a:p>
        </p:txBody>
      </p:sp>
    </p:spTree>
  </p:cSld>
  <p:clrMapOvr>
    <a:masterClrMapping/>
  </p:clrMapOvr>
  <p:transition spd="slow">
    <p:cut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Games (Level 3)</a:t>
            </a:r>
          </a:p>
        </p:txBody>
      </p:sp>
      <p:sp>
        <p:nvSpPr>
          <p:cNvPr id="321" name="Shape 3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Tic Tac Toe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Connect 4 (implemented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https://github.com/jerrayl/Connect4</a:t>
            </a:r>
            <a:r>
              <a:rPr lang="en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Hangman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Choose your own adventure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Simon 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Trivia Quiz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cut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 txBox="1"/>
          <p:nvPr/>
        </p:nvSpPr>
        <p:spPr>
          <a:xfrm>
            <a:off x="1005175" y="1700250"/>
            <a:ext cx="7196700" cy="1208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7200">
                <a:solidFill>
                  <a:srgbClr val="980000"/>
                </a:solidFill>
                <a:latin typeface="Graduate"/>
                <a:ea typeface="Graduate"/>
                <a:cs typeface="Graduate"/>
                <a:sym typeface="Graduate"/>
              </a:rPr>
              <a:t>T</a:t>
            </a:r>
            <a:r>
              <a:rPr lang="en" sz="7200">
                <a:solidFill>
                  <a:srgbClr val="FF0000"/>
                </a:solidFill>
                <a:latin typeface="Graduate"/>
                <a:ea typeface="Graduate"/>
                <a:cs typeface="Graduate"/>
                <a:sym typeface="Graduate"/>
              </a:rPr>
              <a:t>H</a:t>
            </a:r>
            <a:r>
              <a:rPr lang="en" sz="7200">
                <a:solidFill>
                  <a:srgbClr val="FF9900"/>
                </a:solidFill>
                <a:latin typeface="Graduate"/>
                <a:ea typeface="Graduate"/>
                <a:cs typeface="Graduate"/>
                <a:sym typeface="Graduate"/>
              </a:rPr>
              <a:t>A</a:t>
            </a:r>
            <a:r>
              <a:rPr lang="en" sz="7200">
                <a:solidFill>
                  <a:srgbClr val="FFFF00"/>
                </a:solidFill>
                <a:latin typeface="Graduate"/>
                <a:ea typeface="Graduate"/>
                <a:cs typeface="Graduate"/>
                <a:sym typeface="Graduate"/>
              </a:rPr>
              <a:t>N</a:t>
            </a:r>
            <a:r>
              <a:rPr lang="en" sz="7200">
                <a:solidFill>
                  <a:srgbClr val="00FF00"/>
                </a:solidFill>
                <a:latin typeface="Graduate"/>
                <a:ea typeface="Graduate"/>
                <a:cs typeface="Graduate"/>
                <a:sym typeface="Graduate"/>
              </a:rPr>
              <a:t>K</a:t>
            </a:r>
            <a:r>
              <a:rPr lang="en" sz="7200">
                <a:solidFill>
                  <a:srgbClr val="FFFFFF"/>
                </a:solidFill>
                <a:latin typeface="Graduate"/>
                <a:ea typeface="Graduate"/>
                <a:cs typeface="Graduate"/>
                <a:sym typeface="Graduate"/>
              </a:rPr>
              <a:t> </a:t>
            </a:r>
            <a:r>
              <a:rPr lang="en" sz="7200">
                <a:solidFill>
                  <a:srgbClr val="6FA8DC"/>
                </a:solidFill>
                <a:latin typeface="Graduate"/>
                <a:ea typeface="Graduate"/>
                <a:cs typeface="Graduate"/>
                <a:sym typeface="Graduate"/>
              </a:rPr>
              <a:t>Y</a:t>
            </a:r>
            <a:r>
              <a:rPr lang="en" sz="7200">
                <a:solidFill>
                  <a:srgbClr val="4A86E8"/>
                </a:solidFill>
                <a:latin typeface="Graduate"/>
                <a:ea typeface="Graduate"/>
                <a:cs typeface="Graduate"/>
                <a:sym typeface="Graduate"/>
              </a:rPr>
              <a:t>O</a:t>
            </a:r>
            <a:r>
              <a:rPr lang="en" sz="7200">
                <a:solidFill>
                  <a:srgbClr val="9900FF"/>
                </a:solidFill>
                <a:latin typeface="Graduate"/>
                <a:ea typeface="Graduate"/>
                <a:cs typeface="Graduate"/>
                <a:sym typeface="Graduate"/>
              </a:rPr>
              <a:t>U</a:t>
            </a:r>
          </a:p>
        </p:txBody>
      </p:sp>
      <p:sp>
        <p:nvSpPr>
          <p:cNvPr id="327" name="Shape 327"/>
          <p:cNvSpPr txBox="1"/>
          <p:nvPr/>
        </p:nvSpPr>
        <p:spPr>
          <a:xfrm>
            <a:off x="2100750" y="3249575"/>
            <a:ext cx="4942500" cy="1096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6D9EEB"/>
              </a:solidFill>
            </a:endParaRPr>
          </a:p>
          <a:p>
            <a:pPr lvl="0" algn="ctr">
              <a:spcBef>
                <a:spcPts val="0"/>
              </a:spcBef>
              <a:buNone/>
            </a:pPr>
            <a:r>
              <a:rPr lang="en" sz="3000">
                <a:solidFill>
                  <a:srgbClr val="00FFFF"/>
                </a:solidFill>
                <a:latin typeface="Ubuntu"/>
                <a:ea typeface="Ubuntu"/>
                <a:cs typeface="Ubuntu"/>
                <a:sym typeface="Ubuntu"/>
              </a:rPr>
              <a:t>for saving the world!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